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4"/>
  </p:sldMasterIdLst>
  <p:notesMasterIdLst>
    <p:notesMasterId r:id="rId16"/>
  </p:notesMasterIdLst>
  <p:sldIdLst>
    <p:sldId id="2561" r:id="rId5"/>
    <p:sldId id="2563" r:id="rId6"/>
    <p:sldId id="2565" r:id="rId7"/>
    <p:sldId id="2566" r:id="rId8"/>
    <p:sldId id="2568" r:id="rId9"/>
    <p:sldId id="2569" r:id="rId10"/>
    <p:sldId id="2571" r:id="rId11"/>
    <p:sldId id="2572" r:id="rId12"/>
    <p:sldId id="2573" r:id="rId13"/>
    <p:sldId id="2575" r:id="rId14"/>
    <p:sldId id="257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uto Sales Analysis &amp; Insights" id="{C6DC4B23-82D0-461F-83FB-24A8F1D47E23}">
          <p14:sldIdLst>
            <p14:sldId id="2561"/>
          </p14:sldIdLst>
        </p14:section>
        <p14:section name="Overview" id="{AFB522CC-04F1-4E47-B94B-EBBB3ED66ECB}">
          <p14:sldIdLst>
            <p14:sldId id="2563"/>
          </p14:sldIdLst>
        </p14:section>
        <p14:section name="Sales Performance by Make and Day" id="{42A5C9A7-1DFB-466C-BFAE-CB96C8019CE5}">
          <p14:sldIdLst>
            <p14:sldId id="2565"/>
            <p14:sldId id="2566"/>
          </p14:sldIdLst>
        </p14:section>
        <p14:section name="Revenue Trends" id="{EDF9885A-720B-4A95-990F-80B65D7C9E48}">
          <p14:sldIdLst>
            <p14:sldId id="2568"/>
            <p14:sldId id="2569"/>
          </p14:sldIdLst>
        </p14:section>
        <p14:section name="Vehicle Characteristics and Sales" id="{753D13B3-05BB-42E4-B3F4-C78C4475E95E}">
          <p14:sldIdLst>
            <p14:sldId id="2571"/>
            <p14:sldId id="2572"/>
            <p14:sldId id="2573"/>
          </p14:sldIdLst>
        </p14:section>
        <p14:section name="Sales Insights and Recommendations" id="{525017AA-3F27-4FA5-9D45-89B604ABCABB}">
          <p14:sldIdLst>
            <p14:sldId id="2575"/>
          </p14:sldIdLst>
        </p14:section>
        <p14:section name="Conclusion" id="{7BF27270-85EF-4913-A070-7450B3D4CDB8}">
          <p14:sldIdLst>
            <p14:sldId id="25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887287-F837-6D92-B107-848E7BCA87E0}" v="3" dt="2025-11-17T18:52:46.121"/>
    <p1510:client id="{166644CA-729A-4C18-B72B-958C50776994}" v="15" dt="2025-11-17T18:38:37.879"/>
    <p1510:client id="{38C9E142-90BA-4FA8-BCAD-03AB1FA208A2}" v="1" dt="2025-11-17T18:56:00.8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_rels/data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8660F0-AB9A-45CC-83D6-B0CD4F13FC9C}"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89ADAED1-3888-4CA4-BC1D-62981C538E33}">
      <dgm:prSet/>
      <dgm:spPr/>
      <dgm:t>
        <a:bodyPr/>
        <a:lstStyle/>
        <a:p>
          <a:pPr>
            <a:lnSpc>
              <a:spcPct val="100000"/>
            </a:lnSpc>
            <a:defRPr b="1"/>
          </a:pPr>
          <a:r>
            <a:rPr lang="en-US" dirty="0">
              <a:solidFill>
                <a:schemeClr val="bg1"/>
              </a:solidFill>
            </a:rPr>
            <a:t>Dominant Vehicle Types</a:t>
          </a:r>
        </a:p>
      </dgm:t>
    </dgm:pt>
    <dgm:pt modelId="{BD7F5D0E-6927-496D-BE41-8DB7CC1929C8}" type="parTrans" cxnId="{1769BBC7-47CE-4DE2-9D9E-DA5FEF8D8555}">
      <dgm:prSet/>
      <dgm:spPr/>
      <dgm:t>
        <a:bodyPr/>
        <a:lstStyle/>
        <a:p>
          <a:endParaRPr lang="en-US"/>
        </a:p>
      </dgm:t>
    </dgm:pt>
    <dgm:pt modelId="{F89723C0-4EDE-432F-AE5C-60B13228BB1A}" type="sibTrans" cxnId="{1769BBC7-47CE-4DE2-9D9E-DA5FEF8D8555}">
      <dgm:prSet/>
      <dgm:spPr/>
      <dgm:t>
        <a:bodyPr/>
        <a:lstStyle/>
        <a:p>
          <a:pPr>
            <a:lnSpc>
              <a:spcPct val="100000"/>
            </a:lnSpc>
            <a:defRPr b="1"/>
          </a:pPr>
          <a:endParaRPr lang="en-US"/>
        </a:p>
      </dgm:t>
    </dgm:pt>
    <dgm:pt modelId="{48613FF6-1910-4D82-B386-8595D507D37B}">
      <dgm:prSet/>
      <dgm:spPr/>
      <dgm:t>
        <a:bodyPr/>
        <a:lstStyle/>
        <a:p>
          <a:pPr>
            <a:lnSpc>
              <a:spcPct val="100000"/>
            </a:lnSpc>
          </a:pPr>
          <a:r>
            <a:rPr lang="en-US" dirty="0">
              <a:solidFill>
                <a:schemeClr val="bg1"/>
              </a:solidFill>
            </a:rPr>
            <a:t>Sedans and SUVs lead sales due to their balance of practicality, comfort, and style.</a:t>
          </a:r>
        </a:p>
      </dgm:t>
    </dgm:pt>
    <dgm:pt modelId="{CA1136CA-F856-444F-AAA6-9229BC5028F1}" type="parTrans" cxnId="{534DA459-B04A-4409-88EC-ED8BA3D7EF48}">
      <dgm:prSet/>
      <dgm:spPr/>
      <dgm:t>
        <a:bodyPr/>
        <a:lstStyle/>
        <a:p>
          <a:endParaRPr lang="en-US"/>
        </a:p>
      </dgm:t>
    </dgm:pt>
    <dgm:pt modelId="{74DEDCCB-0376-4500-9B9E-EF504F397FD7}" type="sibTrans" cxnId="{534DA459-B04A-4409-88EC-ED8BA3D7EF48}">
      <dgm:prSet/>
      <dgm:spPr/>
      <dgm:t>
        <a:bodyPr/>
        <a:lstStyle/>
        <a:p>
          <a:endParaRPr lang="en-US"/>
        </a:p>
      </dgm:t>
    </dgm:pt>
    <dgm:pt modelId="{FE2D010A-5FF1-40B1-8D7A-172835BB1CA4}">
      <dgm:prSet/>
      <dgm:spPr/>
      <dgm:t>
        <a:bodyPr/>
        <a:lstStyle/>
        <a:p>
          <a:pPr>
            <a:lnSpc>
              <a:spcPct val="100000"/>
            </a:lnSpc>
            <a:defRPr b="1"/>
          </a:pPr>
          <a:r>
            <a:rPr lang="en-US" dirty="0">
              <a:solidFill>
                <a:schemeClr val="bg1"/>
              </a:solidFill>
            </a:rPr>
            <a:t>Consumer Preferences</a:t>
          </a:r>
        </a:p>
      </dgm:t>
    </dgm:pt>
    <dgm:pt modelId="{C68FF71B-5796-4F85-AFFC-6413E3F889A4}" type="parTrans" cxnId="{4F2FC543-0587-4476-904C-03BF2F66286B}">
      <dgm:prSet/>
      <dgm:spPr/>
      <dgm:t>
        <a:bodyPr/>
        <a:lstStyle/>
        <a:p>
          <a:endParaRPr lang="en-US"/>
        </a:p>
      </dgm:t>
    </dgm:pt>
    <dgm:pt modelId="{E66C9D40-AA4D-4D62-BC31-9E9ECD3814F2}" type="sibTrans" cxnId="{4F2FC543-0587-4476-904C-03BF2F66286B}">
      <dgm:prSet/>
      <dgm:spPr/>
      <dgm:t>
        <a:bodyPr/>
        <a:lstStyle/>
        <a:p>
          <a:pPr>
            <a:lnSpc>
              <a:spcPct val="100000"/>
            </a:lnSpc>
            <a:defRPr b="1"/>
          </a:pPr>
          <a:endParaRPr lang="en-US"/>
        </a:p>
      </dgm:t>
    </dgm:pt>
    <dgm:pt modelId="{20B40620-954A-45F8-836A-1B84DE802288}">
      <dgm:prSet/>
      <dgm:spPr/>
      <dgm:t>
        <a:bodyPr/>
        <a:lstStyle/>
        <a:p>
          <a:pPr>
            <a:lnSpc>
              <a:spcPct val="100000"/>
            </a:lnSpc>
          </a:pPr>
          <a:r>
            <a:rPr lang="en-US" dirty="0">
              <a:solidFill>
                <a:schemeClr val="bg1"/>
              </a:solidFill>
            </a:rPr>
            <a:t>Consumer choices are influenced by needs for comfort, style, and practicality in vehicle selection.</a:t>
          </a:r>
        </a:p>
      </dgm:t>
    </dgm:pt>
    <dgm:pt modelId="{FAA68E22-BEB2-4506-8870-3841ED069ABD}" type="parTrans" cxnId="{80CCBE11-8DCD-4712-8E5F-09D71D939073}">
      <dgm:prSet/>
      <dgm:spPr/>
      <dgm:t>
        <a:bodyPr/>
        <a:lstStyle/>
        <a:p>
          <a:endParaRPr lang="en-US"/>
        </a:p>
      </dgm:t>
    </dgm:pt>
    <dgm:pt modelId="{DCAF48B3-F322-400C-8BB0-415F883BC2B5}" type="sibTrans" cxnId="{80CCBE11-8DCD-4712-8E5F-09D71D939073}">
      <dgm:prSet/>
      <dgm:spPr/>
      <dgm:t>
        <a:bodyPr/>
        <a:lstStyle/>
        <a:p>
          <a:endParaRPr lang="en-US"/>
        </a:p>
      </dgm:t>
    </dgm:pt>
    <dgm:pt modelId="{A863E015-2234-4422-B413-7F8B7C5F4BAC}">
      <dgm:prSet/>
      <dgm:spPr/>
      <dgm:t>
        <a:bodyPr/>
        <a:lstStyle/>
        <a:p>
          <a:pPr>
            <a:lnSpc>
              <a:spcPct val="100000"/>
            </a:lnSpc>
            <a:defRPr b="1"/>
          </a:pPr>
          <a:r>
            <a:rPr lang="en-US" dirty="0">
              <a:solidFill>
                <a:schemeClr val="bg1"/>
              </a:solidFill>
            </a:rPr>
            <a:t>Marketing and Inventory Insights</a:t>
          </a:r>
        </a:p>
      </dgm:t>
    </dgm:pt>
    <dgm:pt modelId="{BF1AC9F9-C293-4D7F-8702-58EBCE1942D5}" type="parTrans" cxnId="{371ADE40-5AB4-412F-A6DC-EAF2882EFF5E}">
      <dgm:prSet/>
      <dgm:spPr/>
      <dgm:t>
        <a:bodyPr/>
        <a:lstStyle/>
        <a:p>
          <a:endParaRPr lang="en-US"/>
        </a:p>
      </dgm:t>
    </dgm:pt>
    <dgm:pt modelId="{634DFEF2-ADF9-4241-8DF9-EB749AE5EC90}" type="sibTrans" cxnId="{371ADE40-5AB4-412F-A6DC-EAF2882EFF5E}">
      <dgm:prSet/>
      <dgm:spPr/>
      <dgm:t>
        <a:bodyPr/>
        <a:lstStyle/>
        <a:p>
          <a:endParaRPr lang="en-US"/>
        </a:p>
      </dgm:t>
    </dgm:pt>
    <dgm:pt modelId="{51E4EC4B-C992-4DCB-9B69-7D9ED949C5EC}">
      <dgm:prSet/>
      <dgm:spPr/>
      <dgm:t>
        <a:bodyPr/>
        <a:lstStyle/>
        <a:p>
          <a:pPr>
            <a:lnSpc>
              <a:spcPct val="100000"/>
            </a:lnSpc>
          </a:pPr>
          <a:r>
            <a:rPr lang="en-US" dirty="0">
              <a:solidFill>
                <a:schemeClr val="bg1"/>
              </a:solidFill>
            </a:rPr>
            <a:t>Sales data helps optimize inventory and marketing strategies to match customer demand effectively.</a:t>
          </a:r>
        </a:p>
      </dgm:t>
    </dgm:pt>
    <dgm:pt modelId="{A6949865-74E2-460F-8D2D-741FDD067181}" type="parTrans" cxnId="{E86CEAF2-E345-4D39-86FD-86C9D7880F8B}">
      <dgm:prSet/>
      <dgm:spPr/>
      <dgm:t>
        <a:bodyPr/>
        <a:lstStyle/>
        <a:p>
          <a:endParaRPr lang="en-US"/>
        </a:p>
      </dgm:t>
    </dgm:pt>
    <dgm:pt modelId="{1EFC1196-AAF7-4618-A2DC-D2705D074F28}" type="sibTrans" cxnId="{E86CEAF2-E345-4D39-86FD-86C9D7880F8B}">
      <dgm:prSet/>
      <dgm:spPr/>
      <dgm:t>
        <a:bodyPr/>
        <a:lstStyle/>
        <a:p>
          <a:endParaRPr lang="en-US"/>
        </a:p>
      </dgm:t>
    </dgm:pt>
    <dgm:pt modelId="{6AC7F511-D6B5-43E0-A449-282F7BEC9571}" type="pres">
      <dgm:prSet presAssocID="{668660F0-AB9A-45CC-83D6-B0CD4F13FC9C}" presName="Root" presStyleCnt="0">
        <dgm:presLayoutVars>
          <dgm:dir/>
          <dgm:resizeHandles val="exact"/>
        </dgm:presLayoutVars>
      </dgm:prSet>
      <dgm:spPr/>
    </dgm:pt>
    <dgm:pt modelId="{C403B759-B36A-4DDB-A60B-AE668293F559}" type="pres">
      <dgm:prSet presAssocID="{89ADAED1-3888-4CA4-BC1D-62981C538E33}" presName="Composite" presStyleCnt="0"/>
      <dgm:spPr/>
    </dgm:pt>
    <dgm:pt modelId="{EBBC910D-169E-4048-A09A-F3E1AFB7F2FC}" type="pres">
      <dgm:prSet presAssocID="{89ADAED1-3888-4CA4-BC1D-62981C538E33}"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8612" r="7882" b="-10"/>
          <a:stretch/>
        </a:blipFill>
      </dgm:spPr>
      <dgm:extLst>
        <a:ext uri="{E40237B7-FDA0-4F09-8148-C483321AD2D9}">
          <dgm14:cNvPr xmlns:dgm14="http://schemas.microsoft.com/office/drawing/2010/diagram" id="0" name="" descr="All wheel drive vehicles in dealership"/>
        </a:ext>
      </dgm:extLst>
    </dgm:pt>
    <dgm:pt modelId="{2CEB925B-AB5F-427F-8155-0FA2995F1432}" type="pres">
      <dgm:prSet presAssocID="{89ADAED1-3888-4CA4-BC1D-62981C538E33}" presName="Subtitle" presStyleLbl="revTx" presStyleIdx="0" presStyleCnt="6">
        <dgm:presLayoutVars>
          <dgm:chMax val="0"/>
          <dgm:bulletEnabled/>
        </dgm:presLayoutVars>
      </dgm:prSet>
      <dgm:spPr/>
    </dgm:pt>
    <dgm:pt modelId="{2691A222-2EA3-4727-85AE-006A91663B09}" type="pres">
      <dgm:prSet presAssocID="{89ADAED1-3888-4CA4-BC1D-62981C538E33}" presName="Description" presStyleLbl="revTx" presStyleIdx="1" presStyleCnt="6">
        <dgm:presLayoutVars>
          <dgm:bulletEnabled/>
        </dgm:presLayoutVars>
      </dgm:prSet>
      <dgm:spPr/>
    </dgm:pt>
    <dgm:pt modelId="{C4B963C0-32FA-4D1E-84B8-04B956A4CAF6}" type="pres">
      <dgm:prSet presAssocID="{F89723C0-4EDE-432F-AE5C-60B13228BB1A}" presName="sibTrans" presStyleLbl="sibTrans2D1" presStyleIdx="0" presStyleCnt="0"/>
      <dgm:spPr/>
    </dgm:pt>
    <dgm:pt modelId="{02839BC9-AC92-4F6F-96DB-94DDE23FA178}" type="pres">
      <dgm:prSet presAssocID="{FE2D010A-5FF1-40B1-8D7A-172835BB1CA4}" presName="Composite" presStyleCnt="0"/>
      <dgm:spPr/>
    </dgm:pt>
    <dgm:pt modelId="{F51C6BA8-F3C6-4A77-86A5-4119D4B4DCDC}" type="pres">
      <dgm:prSet presAssocID="{FE2D010A-5FF1-40B1-8D7A-172835BB1CA4}"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4125" r="19127" b="3"/>
          <a:stretch/>
        </a:blipFill>
      </dgm:spPr>
      <dgm:extLst>
        <a:ext uri="{E40237B7-FDA0-4F09-8148-C483321AD2D9}">
          <dgm14:cNvPr xmlns:dgm14="http://schemas.microsoft.com/office/drawing/2010/diagram" id="0" name="" descr="Woman sitting in driving seat testing car"/>
        </a:ext>
      </dgm:extLst>
    </dgm:pt>
    <dgm:pt modelId="{4CC47484-1F97-4197-8E99-2364125992D9}" type="pres">
      <dgm:prSet presAssocID="{FE2D010A-5FF1-40B1-8D7A-172835BB1CA4}" presName="Subtitle" presStyleLbl="revTx" presStyleIdx="2" presStyleCnt="6">
        <dgm:presLayoutVars>
          <dgm:chMax val="0"/>
          <dgm:bulletEnabled/>
        </dgm:presLayoutVars>
      </dgm:prSet>
      <dgm:spPr/>
    </dgm:pt>
    <dgm:pt modelId="{A9B6E966-44A6-4FB1-8C54-966DB79E93D3}" type="pres">
      <dgm:prSet presAssocID="{FE2D010A-5FF1-40B1-8D7A-172835BB1CA4}" presName="Description" presStyleLbl="revTx" presStyleIdx="3" presStyleCnt="6">
        <dgm:presLayoutVars>
          <dgm:bulletEnabled/>
        </dgm:presLayoutVars>
      </dgm:prSet>
      <dgm:spPr/>
    </dgm:pt>
    <dgm:pt modelId="{CCBCDF6D-08CE-4150-A6E5-E47B9871F4EE}" type="pres">
      <dgm:prSet presAssocID="{E66C9D40-AA4D-4D62-BC31-9E9ECD3814F2}" presName="sibTrans" presStyleLbl="sibTrans2D1" presStyleIdx="0" presStyleCnt="0"/>
      <dgm:spPr/>
    </dgm:pt>
    <dgm:pt modelId="{CB5F1A17-629F-4BDD-9D77-27DB54F65A4A}" type="pres">
      <dgm:prSet presAssocID="{A863E015-2234-4422-B413-7F8B7C5F4BAC}" presName="Composite" presStyleCnt="0"/>
      <dgm:spPr/>
    </dgm:pt>
    <dgm:pt modelId="{DD3B2D95-7A0C-4D99-9B5B-252D9476A7F4}" type="pres">
      <dgm:prSet presAssocID="{A863E015-2234-4422-B413-7F8B7C5F4BAC}"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6059" r="27694" b="6"/>
          <a:stretch/>
        </a:blipFill>
      </dgm:spPr>
      <dgm:extLst>
        <a:ext uri="{E40237B7-FDA0-4F09-8148-C483321AD2D9}">
          <dgm14:cNvPr xmlns:dgm14="http://schemas.microsoft.com/office/drawing/2010/diagram" id="0" name="" descr="3D illustration of new cars&#10;&#10;This image doesn`t contain any visible trademarked products, corporate identity, logos, or copyrighted elements.&#10;I am author of design of this car.&#10;I am author of 3d model of this car"/>
        </a:ext>
      </dgm:extLst>
    </dgm:pt>
    <dgm:pt modelId="{3A870886-89F5-4377-A4FB-4021D589AF8A}" type="pres">
      <dgm:prSet presAssocID="{A863E015-2234-4422-B413-7F8B7C5F4BAC}" presName="Subtitle" presStyleLbl="revTx" presStyleIdx="4" presStyleCnt="6">
        <dgm:presLayoutVars>
          <dgm:chMax val="0"/>
          <dgm:bulletEnabled/>
        </dgm:presLayoutVars>
      </dgm:prSet>
      <dgm:spPr/>
    </dgm:pt>
    <dgm:pt modelId="{C4CB9F66-4D65-4B90-83AB-B7050BBB0313}" type="pres">
      <dgm:prSet presAssocID="{A863E015-2234-4422-B413-7F8B7C5F4BAC}" presName="Description" presStyleLbl="revTx" presStyleIdx="5" presStyleCnt="6">
        <dgm:presLayoutVars>
          <dgm:bulletEnabled/>
        </dgm:presLayoutVars>
      </dgm:prSet>
      <dgm:spPr/>
    </dgm:pt>
  </dgm:ptLst>
  <dgm:cxnLst>
    <dgm:cxn modelId="{80CCBE11-8DCD-4712-8E5F-09D71D939073}" srcId="{FE2D010A-5FF1-40B1-8D7A-172835BB1CA4}" destId="{20B40620-954A-45F8-836A-1B84DE802288}" srcOrd="0" destOrd="0" parTransId="{FAA68E22-BEB2-4506-8870-3841ED069ABD}" sibTransId="{DCAF48B3-F322-400C-8BB0-415F883BC2B5}"/>
    <dgm:cxn modelId="{371ADE40-5AB4-412F-A6DC-EAF2882EFF5E}" srcId="{668660F0-AB9A-45CC-83D6-B0CD4F13FC9C}" destId="{A863E015-2234-4422-B413-7F8B7C5F4BAC}" srcOrd="2" destOrd="0" parTransId="{BF1AC9F9-C293-4D7F-8702-58EBCE1942D5}" sibTransId="{634DFEF2-ADF9-4241-8DF9-EB749AE5EC90}"/>
    <dgm:cxn modelId="{DF45A543-C697-480E-A12D-0C272DB30A57}" type="presOf" srcId="{51E4EC4B-C992-4DCB-9B69-7D9ED949C5EC}" destId="{C4CB9F66-4D65-4B90-83AB-B7050BBB0313}" srcOrd="0" destOrd="0" presId="urn:microsoft.com/office/officeart/2024/3/layout/verticalVisualTextBlock1"/>
    <dgm:cxn modelId="{4F2FC543-0587-4476-904C-03BF2F66286B}" srcId="{668660F0-AB9A-45CC-83D6-B0CD4F13FC9C}" destId="{FE2D010A-5FF1-40B1-8D7A-172835BB1CA4}" srcOrd="1" destOrd="0" parTransId="{C68FF71B-5796-4F85-AFFC-6413E3F889A4}" sibTransId="{E66C9D40-AA4D-4D62-BC31-9E9ECD3814F2}"/>
    <dgm:cxn modelId="{A2B63C44-C898-41E9-8E2F-A107B4CFFA10}" type="presOf" srcId="{20B40620-954A-45F8-836A-1B84DE802288}" destId="{A9B6E966-44A6-4FB1-8C54-966DB79E93D3}" srcOrd="0" destOrd="0" presId="urn:microsoft.com/office/officeart/2024/3/layout/verticalVisualTextBlock1"/>
    <dgm:cxn modelId="{534DA459-B04A-4409-88EC-ED8BA3D7EF48}" srcId="{89ADAED1-3888-4CA4-BC1D-62981C538E33}" destId="{48613FF6-1910-4D82-B386-8595D507D37B}" srcOrd="0" destOrd="0" parTransId="{CA1136CA-F856-444F-AAA6-9229BC5028F1}" sibTransId="{74DEDCCB-0376-4500-9B9E-EF504F397FD7}"/>
    <dgm:cxn modelId="{57E1AC79-D3F5-419B-A136-07C049EF05AD}" type="presOf" srcId="{A863E015-2234-4422-B413-7F8B7C5F4BAC}" destId="{3A870886-89F5-4377-A4FB-4021D589AF8A}" srcOrd="0" destOrd="0" presId="urn:microsoft.com/office/officeart/2024/3/layout/verticalVisualTextBlock1"/>
    <dgm:cxn modelId="{5419638D-EEDF-4E7C-BFBB-73A732777248}" type="presOf" srcId="{668660F0-AB9A-45CC-83D6-B0CD4F13FC9C}" destId="{6AC7F511-D6B5-43E0-A449-282F7BEC9571}" srcOrd="0" destOrd="0" presId="urn:microsoft.com/office/officeart/2024/3/layout/verticalVisualTextBlock1"/>
    <dgm:cxn modelId="{AD5BE5A0-C8D4-481B-B358-077AAB16D58F}" type="presOf" srcId="{89ADAED1-3888-4CA4-BC1D-62981C538E33}" destId="{2CEB925B-AB5F-427F-8155-0FA2995F1432}" srcOrd="0" destOrd="0" presId="urn:microsoft.com/office/officeart/2024/3/layout/verticalVisualTextBlock1"/>
    <dgm:cxn modelId="{089602B2-85C8-45B5-A594-2CEF8C658F15}" type="presOf" srcId="{E66C9D40-AA4D-4D62-BC31-9E9ECD3814F2}" destId="{CCBCDF6D-08CE-4150-A6E5-E47B9871F4EE}" srcOrd="0" destOrd="0" presId="urn:microsoft.com/office/officeart/2024/3/layout/verticalVisualTextBlock1"/>
    <dgm:cxn modelId="{1769BBC7-47CE-4DE2-9D9E-DA5FEF8D8555}" srcId="{668660F0-AB9A-45CC-83D6-B0CD4F13FC9C}" destId="{89ADAED1-3888-4CA4-BC1D-62981C538E33}" srcOrd="0" destOrd="0" parTransId="{BD7F5D0E-6927-496D-BE41-8DB7CC1929C8}" sibTransId="{F89723C0-4EDE-432F-AE5C-60B13228BB1A}"/>
    <dgm:cxn modelId="{2C99ECCB-145A-4546-8ECC-426F05DC81CD}" type="presOf" srcId="{FE2D010A-5FF1-40B1-8D7A-172835BB1CA4}" destId="{4CC47484-1F97-4197-8E99-2364125992D9}" srcOrd="0" destOrd="0" presId="urn:microsoft.com/office/officeart/2024/3/layout/verticalVisualTextBlock1"/>
    <dgm:cxn modelId="{36CF5ECF-1FE2-44BD-AFC3-1226F86AE37D}" type="presOf" srcId="{F89723C0-4EDE-432F-AE5C-60B13228BB1A}" destId="{C4B963C0-32FA-4D1E-84B8-04B956A4CAF6}" srcOrd="0" destOrd="0" presId="urn:microsoft.com/office/officeart/2024/3/layout/verticalVisualTextBlock1"/>
    <dgm:cxn modelId="{CCEFCAE4-41DD-42F9-9874-341F5C7C96CB}" type="presOf" srcId="{48613FF6-1910-4D82-B386-8595D507D37B}" destId="{2691A222-2EA3-4727-85AE-006A91663B09}" srcOrd="0" destOrd="0" presId="urn:microsoft.com/office/officeart/2024/3/layout/verticalVisualTextBlock1"/>
    <dgm:cxn modelId="{E86CEAF2-E345-4D39-86FD-86C9D7880F8B}" srcId="{A863E015-2234-4422-B413-7F8B7C5F4BAC}" destId="{51E4EC4B-C992-4DCB-9B69-7D9ED949C5EC}" srcOrd="0" destOrd="0" parTransId="{A6949865-74E2-460F-8D2D-741FDD067181}" sibTransId="{1EFC1196-AAF7-4618-A2DC-D2705D074F28}"/>
    <dgm:cxn modelId="{997EE43B-CD7E-4055-952F-3E10D8270D6F}" type="presParOf" srcId="{6AC7F511-D6B5-43E0-A449-282F7BEC9571}" destId="{C403B759-B36A-4DDB-A60B-AE668293F559}" srcOrd="0" destOrd="0" presId="urn:microsoft.com/office/officeart/2024/3/layout/verticalVisualTextBlock1"/>
    <dgm:cxn modelId="{DA5F3B9F-063E-4CBB-8D9D-55E787B173EB}" type="presParOf" srcId="{C403B759-B36A-4DDB-A60B-AE668293F559}" destId="{EBBC910D-169E-4048-A09A-F3E1AFB7F2FC}" srcOrd="0" destOrd="0" presId="urn:microsoft.com/office/officeart/2024/3/layout/verticalVisualTextBlock1"/>
    <dgm:cxn modelId="{4CA02E13-CE1A-4EFA-8DF3-9527E4BDFDFE}" type="presParOf" srcId="{C403B759-B36A-4DDB-A60B-AE668293F559}" destId="{2CEB925B-AB5F-427F-8155-0FA2995F1432}" srcOrd="1" destOrd="0" presId="urn:microsoft.com/office/officeart/2024/3/layout/verticalVisualTextBlock1"/>
    <dgm:cxn modelId="{C01C83D8-D7C2-4BC2-BD24-B240B25D0C7F}" type="presParOf" srcId="{C403B759-B36A-4DDB-A60B-AE668293F559}" destId="{2691A222-2EA3-4727-85AE-006A91663B09}" srcOrd="2" destOrd="0" presId="urn:microsoft.com/office/officeart/2024/3/layout/verticalVisualTextBlock1"/>
    <dgm:cxn modelId="{92389B4A-0B8D-4830-816E-C20F97DB15BB}" type="presParOf" srcId="{6AC7F511-D6B5-43E0-A449-282F7BEC9571}" destId="{C4B963C0-32FA-4D1E-84B8-04B956A4CAF6}" srcOrd="1" destOrd="0" presId="urn:microsoft.com/office/officeart/2024/3/layout/verticalVisualTextBlock1"/>
    <dgm:cxn modelId="{E6AB65C0-862D-49B0-A96D-A63A2D784154}" type="presParOf" srcId="{6AC7F511-D6B5-43E0-A449-282F7BEC9571}" destId="{02839BC9-AC92-4F6F-96DB-94DDE23FA178}" srcOrd="2" destOrd="0" presId="urn:microsoft.com/office/officeart/2024/3/layout/verticalVisualTextBlock1"/>
    <dgm:cxn modelId="{A768C11D-24B4-4E1B-B3BD-543C8511CF3B}" type="presParOf" srcId="{02839BC9-AC92-4F6F-96DB-94DDE23FA178}" destId="{F51C6BA8-F3C6-4A77-86A5-4119D4B4DCDC}" srcOrd="0" destOrd="0" presId="urn:microsoft.com/office/officeart/2024/3/layout/verticalVisualTextBlock1"/>
    <dgm:cxn modelId="{80C1D3DD-6E7E-4E82-B6B1-DDEE892CEAEF}" type="presParOf" srcId="{02839BC9-AC92-4F6F-96DB-94DDE23FA178}" destId="{4CC47484-1F97-4197-8E99-2364125992D9}" srcOrd="1" destOrd="0" presId="urn:microsoft.com/office/officeart/2024/3/layout/verticalVisualTextBlock1"/>
    <dgm:cxn modelId="{1D38A213-07A7-4834-A7AB-E675ABF68AAC}" type="presParOf" srcId="{02839BC9-AC92-4F6F-96DB-94DDE23FA178}" destId="{A9B6E966-44A6-4FB1-8C54-966DB79E93D3}" srcOrd="2" destOrd="0" presId="urn:microsoft.com/office/officeart/2024/3/layout/verticalVisualTextBlock1"/>
    <dgm:cxn modelId="{0D407EE5-2D90-40D8-8411-B48D482CD460}" type="presParOf" srcId="{6AC7F511-D6B5-43E0-A449-282F7BEC9571}" destId="{CCBCDF6D-08CE-4150-A6E5-E47B9871F4EE}" srcOrd="3" destOrd="0" presId="urn:microsoft.com/office/officeart/2024/3/layout/verticalVisualTextBlock1"/>
    <dgm:cxn modelId="{08BC8D92-F232-4652-B866-BA848DA25556}" type="presParOf" srcId="{6AC7F511-D6B5-43E0-A449-282F7BEC9571}" destId="{CB5F1A17-629F-4BDD-9D77-27DB54F65A4A}" srcOrd="4" destOrd="0" presId="urn:microsoft.com/office/officeart/2024/3/layout/verticalVisualTextBlock1"/>
    <dgm:cxn modelId="{6DC6EFAA-F9E9-49D8-836E-0A5EFAA7A03F}" type="presParOf" srcId="{CB5F1A17-629F-4BDD-9D77-27DB54F65A4A}" destId="{DD3B2D95-7A0C-4D99-9B5B-252D9476A7F4}" srcOrd="0" destOrd="0" presId="urn:microsoft.com/office/officeart/2024/3/layout/verticalVisualTextBlock1"/>
    <dgm:cxn modelId="{F475FB81-5802-40F2-B95B-BC51234EAC13}" type="presParOf" srcId="{CB5F1A17-629F-4BDD-9D77-27DB54F65A4A}" destId="{3A870886-89F5-4377-A4FB-4021D589AF8A}" srcOrd="1" destOrd="0" presId="urn:microsoft.com/office/officeart/2024/3/layout/verticalVisualTextBlock1"/>
    <dgm:cxn modelId="{92E85697-971D-4359-A865-5353A40F3691}" type="presParOf" srcId="{CB5F1A17-629F-4BDD-9D77-27DB54F65A4A}" destId="{C4CB9F66-4D65-4B90-83AB-B7050BBB0313}"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1EA1AB-29E3-441A-A36B-910EDDCCC0D1}"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EB0AF7CD-FBA8-4F34-9E05-2CC633EC52F0}">
      <dgm:prSet/>
      <dgm:spPr/>
      <dgm:t>
        <a:bodyPr/>
        <a:lstStyle/>
        <a:p>
          <a:pPr>
            <a:lnSpc>
              <a:spcPct val="100000"/>
            </a:lnSpc>
            <a:defRPr b="1"/>
          </a:pPr>
          <a:r>
            <a:rPr lang="en-US" dirty="0"/>
            <a:t>Sales Highlights</a:t>
          </a:r>
        </a:p>
      </dgm:t>
    </dgm:pt>
    <dgm:pt modelId="{C0798B48-652C-44E3-9792-5F1E57FFD5E8}" type="parTrans" cxnId="{D9737D93-79F5-495B-94F8-3F8D88B78E01}">
      <dgm:prSet/>
      <dgm:spPr/>
      <dgm:t>
        <a:bodyPr/>
        <a:lstStyle/>
        <a:p>
          <a:endParaRPr lang="en-US"/>
        </a:p>
      </dgm:t>
    </dgm:pt>
    <dgm:pt modelId="{6851525B-0BC8-4708-B50F-1C642E3582AE}" type="sibTrans" cxnId="{D9737D93-79F5-495B-94F8-3F8D88B78E01}">
      <dgm:prSet/>
      <dgm:spPr/>
      <dgm:t>
        <a:bodyPr/>
        <a:lstStyle/>
        <a:p>
          <a:pPr>
            <a:lnSpc>
              <a:spcPct val="100000"/>
            </a:lnSpc>
            <a:defRPr b="1"/>
          </a:pPr>
          <a:endParaRPr lang="en-US"/>
        </a:p>
      </dgm:t>
    </dgm:pt>
    <dgm:pt modelId="{95D74A86-DF84-4934-A7FC-985D524E74E3}">
      <dgm:prSet/>
      <dgm:spPr/>
      <dgm:t>
        <a:bodyPr/>
        <a:lstStyle/>
        <a:p>
          <a:pPr>
            <a:lnSpc>
              <a:spcPct val="100000"/>
            </a:lnSpc>
          </a:pPr>
          <a:r>
            <a:rPr lang="en-US"/>
            <a:t>Ford is the top-selling make, with Tuesday as the busiest sales day and September the peak revenue month.</a:t>
          </a:r>
        </a:p>
      </dgm:t>
    </dgm:pt>
    <dgm:pt modelId="{CF074B19-69C0-483B-BCCD-839F32145B27}" type="parTrans" cxnId="{B16EBD7E-1557-4022-B5E8-D3B1BFD9ED15}">
      <dgm:prSet/>
      <dgm:spPr/>
      <dgm:t>
        <a:bodyPr/>
        <a:lstStyle/>
        <a:p>
          <a:endParaRPr lang="en-US"/>
        </a:p>
      </dgm:t>
    </dgm:pt>
    <dgm:pt modelId="{0A93BA58-53CF-4F55-A597-2B261B739E50}" type="sibTrans" cxnId="{B16EBD7E-1557-4022-B5E8-D3B1BFD9ED15}">
      <dgm:prSet/>
      <dgm:spPr/>
      <dgm:t>
        <a:bodyPr/>
        <a:lstStyle/>
        <a:p>
          <a:endParaRPr lang="en-US"/>
        </a:p>
      </dgm:t>
    </dgm:pt>
    <dgm:pt modelId="{0589D1C7-7001-4116-9D48-734F19DD0D48}">
      <dgm:prSet/>
      <dgm:spPr/>
      <dgm:t>
        <a:bodyPr/>
        <a:lstStyle/>
        <a:p>
          <a:pPr>
            <a:lnSpc>
              <a:spcPct val="100000"/>
            </a:lnSpc>
            <a:defRPr b="1"/>
          </a:pPr>
          <a:r>
            <a:rPr lang="en-US"/>
            <a:t>Popular Vehicle Features</a:t>
          </a:r>
        </a:p>
      </dgm:t>
    </dgm:pt>
    <dgm:pt modelId="{D9A18C4D-5A14-4E91-AFFF-0B02AC7C4AA9}" type="parTrans" cxnId="{8F2E8CB2-FAF4-4900-BDB6-30B02F95A29A}">
      <dgm:prSet/>
      <dgm:spPr/>
      <dgm:t>
        <a:bodyPr/>
        <a:lstStyle/>
        <a:p>
          <a:endParaRPr lang="en-US"/>
        </a:p>
      </dgm:t>
    </dgm:pt>
    <dgm:pt modelId="{1E20F602-806E-4BEF-9C90-F6F9D6FCF026}" type="sibTrans" cxnId="{8F2E8CB2-FAF4-4900-BDB6-30B02F95A29A}">
      <dgm:prSet/>
      <dgm:spPr/>
      <dgm:t>
        <a:bodyPr/>
        <a:lstStyle/>
        <a:p>
          <a:pPr>
            <a:lnSpc>
              <a:spcPct val="100000"/>
            </a:lnSpc>
            <a:defRPr b="1"/>
          </a:pPr>
          <a:endParaRPr lang="en-US"/>
        </a:p>
      </dgm:t>
    </dgm:pt>
    <dgm:pt modelId="{E4867616-FDA7-4647-98F3-25AA21AE0878}">
      <dgm:prSet/>
      <dgm:spPr/>
      <dgm:t>
        <a:bodyPr/>
        <a:lstStyle/>
        <a:p>
          <a:pPr>
            <a:lnSpc>
              <a:spcPct val="100000"/>
            </a:lnSpc>
          </a:pPr>
          <a:r>
            <a:rPr lang="en-US"/>
            <a:t>Sedan body types, black and silver colors, and automatic transmissions are the most popular vehicle traits.</a:t>
          </a:r>
        </a:p>
      </dgm:t>
    </dgm:pt>
    <dgm:pt modelId="{477F1304-6734-4EC7-872F-DEAC9C6110B2}" type="parTrans" cxnId="{D379112A-0E5F-49AA-9C17-927CB258C0B5}">
      <dgm:prSet/>
      <dgm:spPr/>
      <dgm:t>
        <a:bodyPr/>
        <a:lstStyle/>
        <a:p>
          <a:endParaRPr lang="en-US"/>
        </a:p>
      </dgm:t>
    </dgm:pt>
    <dgm:pt modelId="{116CC0EF-7EA4-43C0-A567-563F7F34FDD0}" type="sibTrans" cxnId="{D379112A-0E5F-49AA-9C17-927CB258C0B5}">
      <dgm:prSet/>
      <dgm:spPr/>
      <dgm:t>
        <a:bodyPr/>
        <a:lstStyle/>
        <a:p>
          <a:endParaRPr lang="en-US"/>
        </a:p>
      </dgm:t>
    </dgm:pt>
    <dgm:pt modelId="{C83519E6-41F8-405E-9E7C-758E5A83B1A2}">
      <dgm:prSet/>
      <dgm:spPr/>
      <dgm:t>
        <a:bodyPr/>
        <a:lstStyle/>
        <a:p>
          <a:pPr>
            <a:lnSpc>
              <a:spcPct val="100000"/>
            </a:lnSpc>
            <a:defRPr b="1"/>
          </a:pPr>
          <a:r>
            <a:rPr lang="en-US"/>
            <a:t>Next Steps in Analysis</a:t>
          </a:r>
        </a:p>
      </dgm:t>
    </dgm:pt>
    <dgm:pt modelId="{7E8DD4DF-0D26-4BA7-B8A1-B850FE6900DC}" type="parTrans" cxnId="{23390870-48C4-4208-B0A0-02D6343A7833}">
      <dgm:prSet/>
      <dgm:spPr/>
      <dgm:t>
        <a:bodyPr/>
        <a:lstStyle/>
        <a:p>
          <a:endParaRPr lang="en-US"/>
        </a:p>
      </dgm:t>
    </dgm:pt>
    <dgm:pt modelId="{71C517CE-FE3F-4DAD-97E4-95C33E990447}" type="sibTrans" cxnId="{23390870-48C4-4208-B0A0-02D6343A7833}">
      <dgm:prSet/>
      <dgm:spPr/>
      <dgm:t>
        <a:bodyPr/>
        <a:lstStyle/>
        <a:p>
          <a:endParaRPr lang="en-US"/>
        </a:p>
      </dgm:t>
    </dgm:pt>
    <dgm:pt modelId="{F0E5B1B2-A48B-4716-8A2E-5DB4A817D866}">
      <dgm:prSet/>
      <dgm:spPr/>
      <dgm:t>
        <a:bodyPr/>
        <a:lstStyle/>
        <a:p>
          <a:pPr>
            <a:lnSpc>
              <a:spcPct val="100000"/>
            </a:lnSpc>
          </a:pPr>
          <a:r>
            <a:rPr lang="en-US"/>
            <a:t>Further analysis by seller and region, pricing comparisons, and promotional timing tests will optimize sales.</a:t>
          </a:r>
        </a:p>
      </dgm:t>
    </dgm:pt>
    <dgm:pt modelId="{A2AC4805-12C1-461E-86B0-AC88DE1AC30C}" type="parTrans" cxnId="{CB0F64A9-324A-41FF-842F-1F5C97CEE77D}">
      <dgm:prSet/>
      <dgm:spPr/>
      <dgm:t>
        <a:bodyPr/>
        <a:lstStyle/>
        <a:p>
          <a:endParaRPr lang="en-US"/>
        </a:p>
      </dgm:t>
    </dgm:pt>
    <dgm:pt modelId="{153E09EA-63C7-4F5D-8803-42EF3C220352}" type="sibTrans" cxnId="{CB0F64A9-324A-41FF-842F-1F5C97CEE77D}">
      <dgm:prSet/>
      <dgm:spPr/>
      <dgm:t>
        <a:bodyPr/>
        <a:lstStyle/>
        <a:p>
          <a:endParaRPr lang="en-US"/>
        </a:p>
      </dgm:t>
    </dgm:pt>
    <dgm:pt modelId="{D5244244-E347-4F7A-9284-A06E6F9F80B5}" type="pres">
      <dgm:prSet presAssocID="{651EA1AB-29E3-441A-A36B-910EDDCCC0D1}" presName="Root" presStyleCnt="0">
        <dgm:presLayoutVars>
          <dgm:dir/>
          <dgm:resizeHandles val="exact"/>
        </dgm:presLayoutVars>
      </dgm:prSet>
      <dgm:spPr/>
    </dgm:pt>
    <dgm:pt modelId="{EF17F546-8519-49E3-A38D-C77E4C47618B}" type="pres">
      <dgm:prSet presAssocID="{EB0AF7CD-FBA8-4F34-9E05-2CC633EC52F0}" presName="Composite" presStyleCnt="0"/>
      <dgm:spPr/>
    </dgm:pt>
    <dgm:pt modelId="{643246AB-FD00-4147-B9EA-37DE3FF86241}" type="pres">
      <dgm:prSet presAssocID="{EB0AF7CD-FBA8-4F34-9E05-2CC633EC52F0}"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33249" r="3" b="3"/>
          <a:stretch/>
        </a:blipFill>
      </dgm:spPr>
      <dgm:extLst>
        <a:ext uri="{E40237B7-FDA0-4F09-8148-C483321AD2D9}">
          <dgm14:cNvPr xmlns:dgm14="http://schemas.microsoft.com/office/drawing/2010/diagram" id="0" name="" descr="display stock information on LED screen"/>
        </a:ext>
      </dgm:extLst>
    </dgm:pt>
    <dgm:pt modelId="{16937265-1203-4EB7-9525-7B5C370B126B}" type="pres">
      <dgm:prSet presAssocID="{EB0AF7CD-FBA8-4F34-9E05-2CC633EC52F0}" presName="Subtitle" presStyleLbl="revTx" presStyleIdx="0" presStyleCnt="6">
        <dgm:presLayoutVars>
          <dgm:chMax val="0"/>
          <dgm:bulletEnabled/>
        </dgm:presLayoutVars>
      </dgm:prSet>
      <dgm:spPr/>
    </dgm:pt>
    <dgm:pt modelId="{CE97AFFC-B3CA-4878-8613-8922CC0009D8}" type="pres">
      <dgm:prSet presAssocID="{EB0AF7CD-FBA8-4F34-9E05-2CC633EC52F0}" presName="Description" presStyleLbl="revTx" presStyleIdx="1" presStyleCnt="6">
        <dgm:presLayoutVars>
          <dgm:bulletEnabled/>
        </dgm:presLayoutVars>
      </dgm:prSet>
      <dgm:spPr/>
    </dgm:pt>
    <dgm:pt modelId="{775AADBC-A6B5-4D53-B602-159215BDB62D}" type="pres">
      <dgm:prSet presAssocID="{6851525B-0BC8-4708-B50F-1C642E3582AE}" presName="sibTrans" presStyleLbl="sibTrans2D1" presStyleIdx="0" presStyleCnt="0"/>
      <dgm:spPr/>
    </dgm:pt>
    <dgm:pt modelId="{AC63F7E2-D4ED-4A0D-AE29-5E0127A551E8}" type="pres">
      <dgm:prSet presAssocID="{0589D1C7-7001-4116-9D48-734F19DD0D48}" presName="Composite" presStyleCnt="0"/>
      <dgm:spPr/>
    </dgm:pt>
    <dgm:pt modelId="{2F689DE8-FB4C-42B0-9213-3DFAA0755A17}" type="pres">
      <dgm:prSet presAssocID="{0589D1C7-7001-4116-9D48-734F19DD0D48}"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33252" b="3"/>
          <a:stretch/>
        </a:blipFill>
      </dgm:spPr>
      <dgm:extLst>
        <a:ext uri="{E40237B7-FDA0-4F09-8148-C483321AD2D9}">
          <dgm14:cNvPr xmlns:dgm14="http://schemas.microsoft.com/office/drawing/2010/diagram" id="0" name="" descr="Blurred abstract view of the car door, with focus on the edge of a black car"/>
        </a:ext>
      </dgm:extLst>
    </dgm:pt>
    <dgm:pt modelId="{543AEE57-EFEB-42B4-A796-CF74C01FBAE4}" type="pres">
      <dgm:prSet presAssocID="{0589D1C7-7001-4116-9D48-734F19DD0D48}" presName="Subtitle" presStyleLbl="revTx" presStyleIdx="2" presStyleCnt="6">
        <dgm:presLayoutVars>
          <dgm:chMax val="0"/>
          <dgm:bulletEnabled/>
        </dgm:presLayoutVars>
      </dgm:prSet>
      <dgm:spPr/>
    </dgm:pt>
    <dgm:pt modelId="{DE6E070D-6AB3-462C-8EA8-6BF17C54F6BE}" type="pres">
      <dgm:prSet presAssocID="{0589D1C7-7001-4116-9D48-734F19DD0D48}" presName="Description" presStyleLbl="revTx" presStyleIdx="3" presStyleCnt="6">
        <dgm:presLayoutVars>
          <dgm:bulletEnabled/>
        </dgm:presLayoutVars>
      </dgm:prSet>
      <dgm:spPr/>
    </dgm:pt>
    <dgm:pt modelId="{63E7DCCC-6D0C-4086-87BD-0B638188D66A}" type="pres">
      <dgm:prSet presAssocID="{1E20F602-806E-4BEF-9C90-F6F9D6FCF026}" presName="sibTrans" presStyleLbl="sibTrans2D1" presStyleIdx="0" presStyleCnt="0"/>
      <dgm:spPr/>
    </dgm:pt>
    <dgm:pt modelId="{77FB151F-4C73-47B5-9017-8058DAFD216D}" type="pres">
      <dgm:prSet presAssocID="{C83519E6-41F8-405E-9E7C-758E5A83B1A2}" presName="Composite" presStyleCnt="0"/>
      <dgm:spPr/>
    </dgm:pt>
    <dgm:pt modelId="{7AEC4C72-CB83-46D3-A273-07CDC7DD6883}" type="pres">
      <dgm:prSet presAssocID="{C83519E6-41F8-405E-9E7C-758E5A83B1A2}"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0510" r="22742" b="3"/>
          <a:stretch/>
        </a:blipFill>
      </dgm:spPr>
      <dgm:extLst>
        <a:ext uri="{E40237B7-FDA0-4F09-8148-C483321AD2D9}">
          <dgm14:cNvPr xmlns:dgm14="http://schemas.microsoft.com/office/drawing/2010/diagram" id="0" name="" descr="Writing a business document on spiral notebook like a whiteboard, isolated on white background."/>
        </a:ext>
      </dgm:extLst>
    </dgm:pt>
    <dgm:pt modelId="{83B93FA7-AD67-4B55-BD6D-924C66FA9BC1}" type="pres">
      <dgm:prSet presAssocID="{C83519E6-41F8-405E-9E7C-758E5A83B1A2}" presName="Subtitle" presStyleLbl="revTx" presStyleIdx="4" presStyleCnt="6">
        <dgm:presLayoutVars>
          <dgm:chMax val="0"/>
          <dgm:bulletEnabled/>
        </dgm:presLayoutVars>
      </dgm:prSet>
      <dgm:spPr/>
    </dgm:pt>
    <dgm:pt modelId="{A2462683-47F9-48B8-A465-EAB1B409664E}" type="pres">
      <dgm:prSet presAssocID="{C83519E6-41F8-405E-9E7C-758E5A83B1A2}" presName="Description" presStyleLbl="revTx" presStyleIdx="5" presStyleCnt="6">
        <dgm:presLayoutVars>
          <dgm:bulletEnabled/>
        </dgm:presLayoutVars>
      </dgm:prSet>
      <dgm:spPr/>
    </dgm:pt>
  </dgm:ptLst>
  <dgm:cxnLst>
    <dgm:cxn modelId="{18188007-AFEC-47B9-9819-848B51FF9637}" type="presOf" srcId="{95D74A86-DF84-4934-A7FC-985D524E74E3}" destId="{CE97AFFC-B3CA-4878-8613-8922CC0009D8}" srcOrd="0" destOrd="0" presId="urn:microsoft.com/office/officeart/2024/3/layout/verticalVisualTextBlock1"/>
    <dgm:cxn modelId="{D379112A-0E5F-49AA-9C17-927CB258C0B5}" srcId="{0589D1C7-7001-4116-9D48-734F19DD0D48}" destId="{E4867616-FDA7-4647-98F3-25AA21AE0878}" srcOrd="0" destOrd="0" parTransId="{477F1304-6734-4EC7-872F-DEAC9C6110B2}" sibTransId="{116CC0EF-7EA4-43C0-A567-563F7F34FDD0}"/>
    <dgm:cxn modelId="{5653AA38-6DAA-465E-A710-A81078137658}" type="presOf" srcId="{651EA1AB-29E3-441A-A36B-910EDDCCC0D1}" destId="{D5244244-E347-4F7A-9284-A06E6F9F80B5}" srcOrd="0" destOrd="0" presId="urn:microsoft.com/office/officeart/2024/3/layout/verticalVisualTextBlock1"/>
    <dgm:cxn modelId="{EA65DA5C-CD6B-420A-AFA9-C99DC7CB4EC0}" type="presOf" srcId="{EB0AF7CD-FBA8-4F34-9E05-2CC633EC52F0}" destId="{16937265-1203-4EB7-9525-7B5C370B126B}" srcOrd="0" destOrd="0" presId="urn:microsoft.com/office/officeart/2024/3/layout/verticalVisualTextBlock1"/>
    <dgm:cxn modelId="{23390870-48C4-4208-B0A0-02D6343A7833}" srcId="{651EA1AB-29E3-441A-A36B-910EDDCCC0D1}" destId="{C83519E6-41F8-405E-9E7C-758E5A83B1A2}" srcOrd="2" destOrd="0" parTransId="{7E8DD4DF-0D26-4BA7-B8A1-B850FE6900DC}" sibTransId="{71C517CE-FE3F-4DAD-97E4-95C33E990447}"/>
    <dgm:cxn modelId="{2160835A-CD5F-48FE-9AA4-1622DB8A0161}" type="presOf" srcId="{C83519E6-41F8-405E-9E7C-758E5A83B1A2}" destId="{83B93FA7-AD67-4B55-BD6D-924C66FA9BC1}" srcOrd="0" destOrd="0" presId="urn:microsoft.com/office/officeart/2024/3/layout/verticalVisualTextBlock1"/>
    <dgm:cxn modelId="{B16EBD7E-1557-4022-B5E8-D3B1BFD9ED15}" srcId="{EB0AF7CD-FBA8-4F34-9E05-2CC633EC52F0}" destId="{95D74A86-DF84-4934-A7FC-985D524E74E3}" srcOrd="0" destOrd="0" parTransId="{CF074B19-69C0-483B-BCCD-839F32145B27}" sibTransId="{0A93BA58-53CF-4F55-A597-2B261B739E50}"/>
    <dgm:cxn modelId="{B9B9AD8B-9101-4BFA-ABBF-4C50F82790AD}" type="presOf" srcId="{F0E5B1B2-A48B-4716-8A2E-5DB4A817D866}" destId="{A2462683-47F9-48B8-A465-EAB1B409664E}" srcOrd="0" destOrd="0" presId="urn:microsoft.com/office/officeart/2024/3/layout/verticalVisualTextBlock1"/>
    <dgm:cxn modelId="{D9737D93-79F5-495B-94F8-3F8D88B78E01}" srcId="{651EA1AB-29E3-441A-A36B-910EDDCCC0D1}" destId="{EB0AF7CD-FBA8-4F34-9E05-2CC633EC52F0}" srcOrd="0" destOrd="0" parTransId="{C0798B48-652C-44E3-9792-5F1E57FFD5E8}" sibTransId="{6851525B-0BC8-4708-B50F-1C642E3582AE}"/>
    <dgm:cxn modelId="{CB0F64A9-324A-41FF-842F-1F5C97CEE77D}" srcId="{C83519E6-41F8-405E-9E7C-758E5A83B1A2}" destId="{F0E5B1B2-A48B-4716-8A2E-5DB4A817D866}" srcOrd="0" destOrd="0" parTransId="{A2AC4805-12C1-461E-86B0-AC88DE1AC30C}" sibTransId="{153E09EA-63C7-4F5D-8803-42EF3C220352}"/>
    <dgm:cxn modelId="{8F2E8CB2-FAF4-4900-BDB6-30B02F95A29A}" srcId="{651EA1AB-29E3-441A-A36B-910EDDCCC0D1}" destId="{0589D1C7-7001-4116-9D48-734F19DD0D48}" srcOrd="1" destOrd="0" parTransId="{D9A18C4D-5A14-4E91-AFFF-0B02AC7C4AA9}" sibTransId="{1E20F602-806E-4BEF-9C90-F6F9D6FCF026}"/>
    <dgm:cxn modelId="{C79D2ABF-6CDD-4E3A-BF55-E986DF6236D3}" type="presOf" srcId="{1E20F602-806E-4BEF-9C90-F6F9D6FCF026}" destId="{63E7DCCC-6D0C-4086-87BD-0B638188D66A}" srcOrd="0" destOrd="0" presId="urn:microsoft.com/office/officeart/2024/3/layout/verticalVisualTextBlock1"/>
    <dgm:cxn modelId="{98B367DD-6EE3-45B7-BEC6-62A21FBD34A7}" type="presOf" srcId="{6851525B-0BC8-4708-B50F-1C642E3582AE}" destId="{775AADBC-A6B5-4D53-B602-159215BDB62D}" srcOrd="0" destOrd="0" presId="urn:microsoft.com/office/officeart/2024/3/layout/verticalVisualTextBlock1"/>
    <dgm:cxn modelId="{89713BE4-6895-44E4-A826-CD06163AF3F3}" type="presOf" srcId="{0589D1C7-7001-4116-9D48-734F19DD0D48}" destId="{543AEE57-EFEB-42B4-A796-CF74C01FBAE4}" srcOrd="0" destOrd="0" presId="urn:microsoft.com/office/officeart/2024/3/layout/verticalVisualTextBlock1"/>
    <dgm:cxn modelId="{93924EFB-B641-4B1F-BF63-9F8CBFBCE0AB}" type="presOf" srcId="{E4867616-FDA7-4647-98F3-25AA21AE0878}" destId="{DE6E070D-6AB3-462C-8EA8-6BF17C54F6BE}" srcOrd="0" destOrd="0" presId="urn:microsoft.com/office/officeart/2024/3/layout/verticalVisualTextBlock1"/>
    <dgm:cxn modelId="{4DFBCED1-F5B9-417A-9ECA-D45642A3021B}" type="presParOf" srcId="{D5244244-E347-4F7A-9284-A06E6F9F80B5}" destId="{EF17F546-8519-49E3-A38D-C77E4C47618B}" srcOrd="0" destOrd="0" presId="urn:microsoft.com/office/officeart/2024/3/layout/verticalVisualTextBlock1"/>
    <dgm:cxn modelId="{E961AF47-C451-42B9-9B73-D1ADE7BFCBF0}" type="presParOf" srcId="{EF17F546-8519-49E3-A38D-C77E4C47618B}" destId="{643246AB-FD00-4147-B9EA-37DE3FF86241}" srcOrd="0" destOrd="0" presId="urn:microsoft.com/office/officeart/2024/3/layout/verticalVisualTextBlock1"/>
    <dgm:cxn modelId="{673A1CAE-DEE8-4916-A255-C66E2E6CC1B3}" type="presParOf" srcId="{EF17F546-8519-49E3-A38D-C77E4C47618B}" destId="{16937265-1203-4EB7-9525-7B5C370B126B}" srcOrd="1" destOrd="0" presId="urn:microsoft.com/office/officeart/2024/3/layout/verticalVisualTextBlock1"/>
    <dgm:cxn modelId="{D5E2B016-8310-48F2-BD7A-392EA9C82FC9}" type="presParOf" srcId="{EF17F546-8519-49E3-A38D-C77E4C47618B}" destId="{CE97AFFC-B3CA-4878-8613-8922CC0009D8}" srcOrd="2" destOrd="0" presId="urn:microsoft.com/office/officeart/2024/3/layout/verticalVisualTextBlock1"/>
    <dgm:cxn modelId="{6BB9E568-E609-4CDE-96CF-459A686CE291}" type="presParOf" srcId="{D5244244-E347-4F7A-9284-A06E6F9F80B5}" destId="{775AADBC-A6B5-4D53-B602-159215BDB62D}" srcOrd="1" destOrd="0" presId="urn:microsoft.com/office/officeart/2024/3/layout/verticalVisualTextBlock1"/>
    <dgm:cxn modelId="{63B42864-0EF9-433A-8A0A-F70C5FB0E2CC}" type="presParOf" srcId="{D5244244-E347-4F7A-9284-A06E6F9F80B5}" destId="{AC63F7E2-D4ED-4A0D-AE29-5E0127A551E8}" srcOrd="2" destOrd="0" presId="urn:microsoft.com/office/officeart/2024/3/layout/verticalVisualTextBlock1"/>
    <dgm:cxn modelId="{7E071056-83D8-4A47-8D30-0EE1D1D169E0}" type="presParOf" srcId="{AC63F7E2-D4ED-4A0D-AE29-5E0127A551E8}" destId="{2F689DE8-FB4C-42B0-9213-3DFAA0755A17}" srcOrd="0" destOrd="0" presId="urn:microsoft.com/office/officeart/2024/3/layout/verticalVisualTextBlock1"/>
    <dgm:cxn modelId="{64B49C52-4C00-4BD6-A50C-5DA5197A98F0}" type="presParOf" srcId="{AC63F7E2-D4ED-4A0D-AE29-5E0127A551E8}" destId="{543AEE57-EFEB-42B4-A796-CF74C01FBAE4}" srcOrd="1" destOrd="0" presId="urn:microsoft.com/office/officeart/2024/3/layout/verticalVisualTextBlock1"/>
    <dgm:cxn modelId="{BEDCDCD3-4958-48D4-9719-A7E983B2F809}" type="presParOf" srcId="{AC63F7E2-D4ED-4A0D-AE29-5E0127A551E8}" destId="{DE6E070D-6AB3-462C-8EA8-6BF17C54F6BE}" srcOrd="2" destOrd="0" presId="urn:microsoft.com/office/officeart/2024/3/layout/verticalVisualTextBlock1"/>
    <dgm:cxn modelId="{D0ECFE92-7669-4675-9848-17BCC46D0067}" type="presParOf" srcId="{D5244244-E347-4F7A-9284-A06E6F9F80B5}" destId="{63E7DCCC-6D0C-4086-87BD-0B638188D66A}" srcOrd="3" destOrd="0" presId="urn:microsoft.com/office/officeart/2024/3/layout/verticalVisualTextBlock1"/>
    <dgm:cxn modelId="{1EAA82D8-07A7-4A63-BB9D-47DC1EFCBFEA}" type="presParOf" srcId="{D5244244-E347-4F7A-9284-A06E6F9F80B5}" destId="{77FB151F-4C73-47B5-9017-8058DAFD216D}" srcOrd="4" destOrd="0" presId="urn:microsoft.com/office/officeart/2024/3/layout/verticalVisualTextBlock1"/>
    <dgm:cxn modelId="{A0A05F2B-4DDC-4526-AE07-821396DE1AF1}" type="presParOf" srcId="{77FB151F-4C73-47B5-9017-8058DAFD216D}" destId="{7AEC4C72-CB83-46D3-A273-07CDC7DD6883}" srcOrd="0" destOrd="0" presId="urn:microsoft.com/office/officeart/2024/3/layout/verticalVisualTextBlock1"/>
    <dgm:cxn modelId="{DB595FA9-1A9E-4B75-BCBE-02B274B1775A}" type="presParOf" srcId="{77FB151F-4C73-47B5-9017-8058DAFD216D}" destId="{83B93FA7-AD67-4B55-BD6D-924C66FA9BC1}" srcOrd="1" destOrd="0" presId="urn:microsoft.com/office/officeart/2024/3/layout/verticalVisualTextBlock1"/>
    <dgm:cxn modelId="{268EC1CA-4FE2-4AB9-AE27-94374647250C}" type="presParOf" srcId="{77FB151F-4C73-47B5-9017-8058DAFD216D}" destId="{A2462683-47F9-48B8-A465-EAB1B409664E}"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BC910D-169E-4048-A09A-F3E1AFB7F2FC}">
      <dsp:nvSpPr>
        <dsp:cNvPr id="0" name=""/>
        <dsp:cNvSpPr/>
      </dsp:nvSpPr>
      <dsp:spPr>
        <a:xfrm>
          <a:off x="0" y="0"/>
          <a:ext cx="1143725" cy="114372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8612" r="7882" b="-10"/>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2CEB925B-AB5F-427F-8155-0FA2995F1432}">
      <dsp:nvSpPr>
        <dsp:cNvPr id="0" name=""/>
        <dsp:cNvSpPr/>
      </dsp:nvSpPr>
      <dsp:spPr>
        <a:xfrm>
          <a:off x="1323725" y="0"/>
          <a:ext cx="7210674" cy="374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solidFill>
                <a:schemeClr val="bg1"/>
              </a:solidFill>
            </a:rPr>
            <a:t>Dominant Vehicle Types</a:t>
          </a:r>
        </a:p>
      </dsp:txBody>
      <dsp:txXfrm>
        <a:off x="1323725" y="0"/>
        <a:ext cx="7210674" cy="374050"/>
      </dsp:txXfrm>
    </dsp:sp>
    <dsp:sp modelId="{2691A222-2EA3-4727-85AE-006A91663B09}">
      <dsp:nvSpPr>
        <dsp:cNvPr id="0" name=""/>
        <dsp:cNvSpPr/>
      </dsp:nvSpPr>
      <dsp:spPr>
        <a:xfrm>
          <a:off x="1323725" y="374050"/>
          <a:ext cx="7210674" cy="76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solidFill>
                <a:schemeClr val="bg1"/>
              </a:solidFill>
            </a:rPr>
            <a:t>Sedans and SUVs lead sales due to their balance of practicality, comfort, and style.</a:t>
          </a:r>
        </a:p>
      </dsp:txBody>
      <dsp:txXfrm>
        <a:off x="1323725" y="374050"/>
        <a:ext cx="7210674" cy="769675"/>
      </dsp:txXfrm>
    </dsp:sp>
    <dsp:sp modelId="{F51C6BA8-F3C6-4A77-86A5-4119D4B4DCDC}">
      <dsp:nvSpPr>
        <dsp:cNvPr id="0" name=""/>
        <dsp:cNvSpPr/>
      </dsp:nvSpPr>
      <dsp:spPr>
        <a:xfrm>
          <a:off x="0" y="1235223"/>
          <a:ext cx="1143725" cy="114372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4125" r="19127" b="3"/>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4CC47484-1F97-4197-8E99-2364125992D9}">
      <dsp:nvSpPr>
        <dsp:cNvPr id="0" name=""/>
        <dsp:cNvSpPr/>
      </dsp:nvSpPr>
      <dsp:spPr>
        <a:xfrm>
          <a:off x="1323725" y="1235223"/>
          <a:ext cx="7210674" cy="374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solidFill>
                <a:schemeClr val="bg1"/>
              </a:solidFill>
            </a:rPr>
            <a:t>Consumer Preferences</a:t>
          </a:r>
        </a:p>
      </dsp:txBody>
      <dsp:txXfrm>
        <a:off x="1323725" y="1235223"/>
        <a:ext cx="7210674" cy="374050"/>
      </dsp:txXfrm>
    </dsp:sp>
    <dsp:sp modelId="{A9B6E966-44A6-4FB1-8C54-966DB79E93D3}">
      <dsp:nvSpPr>
        <dsp:cNvPr id="0" name=""/>
        <dsp:cNvSpPr/>
      </dsp:nvSpPr>
      <dsp:spPr>
        <a:xfrm>
          <a:off x="1323725" y="1609274"/>
          <a:ext cx="7210674" cy="76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solidFill>
                <a:schemeClr val="bg1"/>
              </a:solidFill>
            </a:rPr>
            <a:t>Consumer choices are influenced by needs for comfort, style, and practicality in vehicle selection.</a:t>
          </a:r>
        </a:p>
      </dsp:txBody>
      <dsp:txXfrm>
        <a:off x="1323725" y="1609274"/>
        <a:ext cx="7210674" cy="769675"/>
      </dsp:txXfrm>
    </dsp:sp>
    <dsp:sp modelId="{DD3B2D95-7A0C-4D99-9B5B-252D9476A7F4}">
      <dsp:nvSpPr>
        <dsp:cNvPr id="0" name=""/>
        <dsp:cNvSpPr/>
      </dsp:nvSpPr>
      <dsp:spPr>
        <a:xfrm>
          <a:off x="0" y="2470447"/>
          <a:ext cx="1143725" cy="114372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6059" r="27694" b="6"/>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3A870886-89F5-4377-A4FB-4021D589AF8A}">
      <dsp:nvSpPr>
        <dsp:cNvPr id="0" name=""/>
        <dsp:cNvSpPr/>
      </dsp:nvSpPr>
      <dsp:spPr>
        <a:xfrm>
          <a:off x="1323725" y="2470447"/>
          <a:ext cx="7210674" cy="374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solidFill>
                <a:schemeClr val="bg1"/>
              </a:solidFill>
            </a:rPr>
            <a:t>Marketing and Inventory Insights</a:t>
          </a:r>
        </a:p>
      </dsp:txBody>
      <dsp:txXfrm>
        <a:off x="1323725" y="2470447"/>
        <a:ext cx="7210674" cy="374050"/>
      </dsp:txXfrm>
    </dsp:sp>
    <dsp:sp modelId="{C4CB9F66-4D65-4B90-83AB-B7050BBB0313}">
      <dsp:nvSpPr>
        <dsp:cNvPr id="0" name=""/>
        <dsp:cNvSpPr/>
      </dsp:nvSpPr>
      <dsp:spPr>
        <a:xfrm>
          <a:off x="1323725" y="2844497"/>
          <a:ext cx="7210674" cy="76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solidFill>
                <a:schemeClr val="bg1"/>
              </a:solidFill>
            </a:rPr>
            <a:t>Sales data helps optimize inventory and marketing strategies to match customer demand effectively.</a:t>
          </a:r>
        </a:p>
      </dsp:txBody>
      <dsp:txXfrm>
        <a:off x="1323725" y="2844497"/>
        <a:ext cx="7210674" cy="7696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3246AB-FD00-4147-B9EA-37DE3FF86241}">
      <dsp:nvSpPr>
        <dsp:cNvPr id="0" name=""/>
        <dsp:cNvSpPr/>
      </dsp:nvSpPr>
      <dsp:spPr>
        <a:xfrm>
          <a:off x="0" y="0"/>
          <a:ext cx="1143725" cy="114372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33249" r="3" b="3"/>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16937265-1203-4EB7-9525-7B5C370B126B}">
      <dsp:nvSpPr>
        <dsp:cNvPr id="0" name=""/>
        <dsp:cNvSpPr/>
      </dsp:nvSpPr>
      <dsp:spPr>
        <a:xfrm>
          <a:off x="1323725" y="0"/>
          <a:ext cx="7210674" cy="374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Sales Highlights</a:t>
          </a:r>
        </a:p>
      </dsp:txBody>
      <dsp:txXfrm>
        <a:off x="1323725" y="0"/>
        <a:ext cx="7210674" cy="374050"/>
      </dsp:txXfrm>
    </dsp:sp>
    <dsp:sp modelId="{CE97AFFC-B3CA-4878-8613-8922CC0009D8}">
      <dsp:nvSpPr>
        <dsp:cNvPr id="0" name=""/>
        <dsp:cNvSpPr/>
      </dsp:nvSpPr>
      <dsp:spPr>
        <a:xfrm>
          <a:off x="1323725" y="374050"/>
          <a:ext cx="7210674" cy="76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Ford is the top-selling make, with Tuesday as the busiest sales day and September the peak revenue month.</a:t>
          </a:r>
        </a:p>
      </dsp:txBody>
      <dsp:txXfrm>
        <a:off x="1323725" y="374050"/>
        <a:ext cx="7210674" cy="769675"/>
      </dsp:txXfrm>
    </dsp:sp>
    <dsp:sp modelId="{2F689DE8-FB4C-42B0-9213-3DFAA0755A17}">
      <dsp:nvSpPr>
        <dsp:cNvPr id="0" name=""/>
        <dsp:cNvSpPr/>
      </dsp:nvSpPr>
      <dsp:spPr>
        <a:xfrm>
          <a:off x="0" y="1235223"/>
          <a:ext cx="1143725" cy="114372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33252" b="3"/>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543AEE57-EFEB-42B4-A796-CF74C01FBAE4}">
      <dsp:nvSpPr>
        <dsp:cNvPr id="0" name=""/>
        <dsp:cNvSpPr/>
      </dsp:nvSpPr>
      <dsp:spPr>
        <a:xfrm>
          <a:off x="1323725" y="1235223"/>
          <a:ext cx="7210674" cy="374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Popular Vehicle Features</a:t>
          </a:r>
        </a:p>
      </dsp:txBody>
      <dsp:txXfrm>
        <a:off x="1323725" y="1235223"/>
        <a:ext cx="7210674" cy="374050"/>
      </dsp:txXfrm>
    </dsp:sp>
    <dsp:sp modelId="{DE6E070D-6AB3-462C-8EA8-6BF17C54F6BE}">
      <dsp:nvSpPr>
        <dsp:cNvPr id="0" name=""/>
        <dsp:cNvSpPr/>
      </dsp:nvSpPr>
      <dsp:spPr>
        <a:xfrm>
          <a:off x="1323725" y="1609274"/>
          <a:ext cx="7210674" cy="76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Sedan body types, black and silver colors, and automatic transmissions are the most popular vehicle traits.</a:t>
          </a:r>
        </a:p>
      </dsp:txBody>
      <dsp:txXfrm>
        <a:off x="1323725" y="1609274"/>
        <a:ext cx="7210674" cy="769675"/>
      </dsp:txXfrm>
    </dsp:sp>
    <dsp:sp modelId="{7AEC4C72-CB83-46D3-A273-07CDC7DD6883}">
      <dsp:nvSpPr>
        <dsp:cNvPr id="0" name=""/>
        <dsp:cNvSpPr/>
      </dsp:nvSpPr>
      <dsp:spPr>
        <a:xfrm>
          <a:off x="0" y="2470447"/>
          <a:ext cx="1143725" cy="114372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0510" r="22742" b="3"/>
          <a:stretch/>
        </a:blip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sp>
    <dsp:sp modelId="{83B93FA7-AD67-4B55-BD6D-924C66FA9BC1}">
      <dsp:nvSpPr>
        <dsp:cNvPr id="0" name=""/>
        <dsp:cNvSpPr/>
      </dsp:nvSpPr>
      <dsp:spPr>
        <a:xfrm>
          <a:off x="1323725" y="2470447"/>
          <a:ext cx="7210674" cy="374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Next Steps in Analysis</a:t>
          </a:r>
        </a:p>
      </dsp:txBody>
      <dsp:txXfrm>
        <a:off x="1323725" y="2470447"/>
        <a:ext cx="7210674" cy="374050"/>
      </dsp:txXfrm>
    </dsp:sp>
    <dsp:sp modelId="{A2462683-47F9-48B8-A465-EAB1B409664E}">
      <dsp:nvSpPr>
        <dsp:cNvPr id="0" name=""/>
        <dsp:cNvSpPr/>
      </dsp:nvSpPr>
      <dsp:spPr>
        <a:xfrm>
          <a:off x="1323725" y="2844497"/>
          <a:ext cx="7210674" cy="76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Further analysis by seller and region, pricing comparisons, and promotional timing tests will optimize sales.</a:t>
          </a:r>
        </a:p>
      </dsp:txBody>
      <dsp:txXfrm>
        <a:off x="1323725" y="2844497"/>
        <a:ext cx="7210674" cy="76967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E1ECDF-1163-4053-B96D-73D20D813873}" type="datetimeFigureOut">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242FB8-B705-47DF-8FC5-759176F29D48}" type="slidenum">
              <a:t>‹#›</a:t>
            </a:fld>
            <a:endParaRPr lang="en-US"/>
          </a:p>
        </p:txBody>
      </p:sp>
    </p:spTree>
    <p:extLst>
      <p:ext uri="{BB962C8B-B14F-4D97-AF65-F5344CB8AC3E}">
        <p14:creationId xmlns:p14="http://schemas.microsoft.com/office/powerpoint/2010/main" val="2956770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08473F99-6EEF-40E5-B8D6-B96912612B39}" type="slidenum">
              <a:t>1</a:t>
            </a:fld>
            <a:endParaRPr lang="en-US"/>
          </a:p>
        </p:txBody>
      </p:sp>
    </p:spTree>
    <p:extLst>
      <p:ext uri="{BB962C8B-B14F-4D97-AF65-F5344CB8AC3E}">
        <p14:creationId xmlns:p14="http://schemas.microsoft.com/office/powerpoint/2010/main" val="130978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https://wsuacza-my.sharepoint.com/personal/nbuka_wsu_ac_za/_layouts/15/Doc.aspx?sourcedoc=%7B51903B36-31F6-4F00-A780-10D909D4C252%7D&amp;file=Processed%20Data%20Excel.xlsx&amp;action=default&amp;mobileredirect=true
This presentation provides a comprehensive analysis of auto sales data, focusing on key metrics such as units sold by make, total revenue by month and model, and sales distribution by day of the week. It also explores the most popular vehicle characteristics including body shape, color, and transmission type. The insights are derived from a detailed dataset containing thousands of records, which were processed to identify trends and patterns that influence high and low sales performance. The goal is to equip stakeholders with actionable intelligence to optimize inventory, marketing strategies, and operational planning.
</a:t>
            </a:r>
          </a:p>
        </p:txBody>
      </p:sp>
      <p:sp>
        <p:nvSpPr>
          <p:cNvPr id="4" name="Slide Number Placeholder 3"/>
          <p:cNvSpPr>
            <a:spLocks noGrp="1"/>
          </p:cNvSpPr>
          <p:nvPr>
            <p:ph type="sldNum" sz="quarter" idx="5"/>
          </p:nvPr>
        </p:nvSpPr>
        <p:spPr/>
        <p:txBody>
          <a:bodyPr/>
          <a:lstStyle/>
          <a:p>
            <a:fld id="{08473F99-6EEF-40E5-B8D6-B96912612B39}" type="slidenum">
              <a:t>2</a:t>
            </a:fld>
            <a:endParaRPr lang="en-US"/>
          </a:p>
        </p:txBody>
      </p:sp>
    </p:spTree>
    <p:extLst>
      <p:ext uri="{BB962C8B-B14F-4D97-AF65-F5344CB8AC3E}">
        <p14:creationId xmlns:p14="http://schemas.microsoft.com/office/powerpoint/2010/main" val="314881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https://wsuacza-my.sharepoint.com/personal/nbuka_wsu_ac_za/_layouts/15/Doc.aspx?sourcedoc=%7B51903B36-31F6-4F00-A780-10D909D4C252%7D&amp;file=Processed%20Data%20Excel.xlsx&amp;action=default&amp;mobileredirect=true
The analysis of units sold by make reveals that Ford is the top-selling brand, significantly outperforming other manufacturers. The top five makes collectively account for a substantial portion of total sales, indicating a concentration of consumer preference. This trend suggests that maintaining a robust inventory of these leading brands could enhance sales performance. The data also highlights the importance of brand recognition and customer loyalty in driving unit sales.
</a:t>
            </a:r>
          </a:p>
        </p:txBody>
      </p:sp>
      <p:sp>
        <p:nvSpPr>
          <p:cNvPr id="4" name="Slide Number Placeholder 3"/>
          <p:cNvSpPr>
            <a:spLocks noGrp="1"/>
          </p:cNvSpPr>
          <p:nvPr>
            <p:ph type="sldNum" sz="quarter" idx="5"/>
          </p:nvPr>
        </p:nvSpPr>
        <p:spPr/>
        <p:txBody>
          <a:bodyPr/>
          <a:lstStyle/>
          <a:p>
            <a:fld id="{08473F99-6EEF-40E5-B8D6-B96912612B39}" type="slidenum">
              <a:t>3</a:t>
            </a:fld>
            <a:endParaRPr lang="en-US"/>
          </a:p>
        </p:txBody>
      </p:sp>
    </p:spTree>
    <p:extLst>
      <p:ext uri="{BB962C8B-B14F-4D97-AF65-F5344CB8AC3E}">
        <p14:creationId xmlns:p14="http://schemas.microsoft.com/office/powerpoint/2010/main" val="3930762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https://wsuacza-my.sharepoint.com/personal/nbuka_wsu_ac_za/_layouts/15/Doc.aspx?sourcedoc=%7B51903B36-31F6-4F00-A780-10D909D4C252%7D&amp;file=Processed%20Data%20Excel.xlsx&amp;action=default&amp;mobileredirect=true
Sales distribution across the days of the week shows a clear peak on Tuesdays, followed closely by Fridays and Sundays. This pattern suggests that mid-week and weekend days are optimal for sales activities, possibly due to consumer availability and dealership operations. Understanding these temporal trends can help in scheduling promotions, staffing, and inventory restocking to align with peak demand periods.
</a:t>
            </a:r>
          </a:p>
        </p:txBody>
      </p:sp>
      <p:sp>
        <p:nvSpPr>
          <p:cNvPr id="4" name="Slide Number Placeholder 3"/>
          <p:cNvSpPr>
            <a:spLocks noGrp="1"/>
          </p:cNvSpPr>
          <p:nvPr>
            <p:ph type="sldNum" sz="quarter" idx="5"/>
          </p:nvPr>
        </p:nvSpPr>
        <p:spPr/>
        <p:txBody>
          <a:bodyPr/>
          <a:lstStyle/>
          <a:p>
            <a:fld id="{08473F99-6EEF-40E5-B8D6-B96912612B39}" type="slidenum">
              <a:t>4</a:t>
            </a:fld>
            <a:endParaRPr lang="en-US"/>
          </a:p>
        </p:txBody>
      </p:sp>
    </p:spTree>
    <p:extLst>
      <p:ext uri="{BB962C8B-B14F-4D97-AF65-F5344CB8AC3E}">
        <p14:creationId xmlns:p14="http://schemas.microsoft.com/office/powerpoint/2010/main" val="3613595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https://wsuacza-my.sharepoint.com/personal/nbuka_wsu_ac_za/Documents/Microsoft%20Copilot%20Chat%20Files/PowerBI.pdf
Monthly revenue analysis indicates that September is the peak month for total revenue, followed by other months with varying performance. This seasonality suggests that consumer behavior and market conditions fluctuate throughout the year. Aligning marketing campaigns and inventory planning with these revenue peaks can enhance profitability and operational efficiency.
</a:t>
            </a:r>
          </a:p>
        </p:txBody>
      </p:sp>
      <p:sp>
        <p:nvSpPr>
          <p:cNvPr id="4" name="Slide Number Placeholder 3"/>
          <p:cNvSpPr>
            <a:spLocks noGrp="1"/>
          </p:cNvSpPr>
          <p:nvPr>
            <p:ph type="sldNum" sz="quarter" idx="5"/>
          </p:nvPr>
        </p:nvSpPr>
        <p:spPr/>
        <p:txBody>
          <a:bodyPr/>
          <a:lstStyle/>
          <a:p>
            <a:fld id="{08473F99-6EEF-40E5-B8D6-B96912612B39}" type="slidenum">
              <a:t>5</a:t>
            </a:fld>
            <a:endParaRPr lang="en-US"/>
          </a:p>
        </p:txBody>
      </p:sp>
    </p:spTree>
    <p:extLst>
      <p:ext uri="{BB962C8B-B14F-4D97-AF65-F5344CB8AC3E}">
        <p14:creationId xmlns:p14="http://schemas.microsoft.com/office/powerpoint/2010/main" val="4134467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https://wsuacza-my.sharepoint.com/personal/nbuka_wsu_ac_za/Documents/Microsoft%20Copilot%20Chat%20Files/PowerBI.pdf
The breakdown of revenue by month and model highlights the top-performing vehicle models that contribute significantly to monthly earnings. Models such as the 1 Series, 1500, and 190-Class show consistent revenue generation across multiple months. This insight is valuable for identifying high-demand models and ensuring their availability during peak sales periods.
</a:t>
            </a:r>
          </a:p>
        </p:txBody>
      </p:sp>
      <p:sp>
        <p:nvSpPr>
          <p:cNvPr id="4" name="Slide Number Placeholder 3"/>
          <p:cNvSpPr>
            <a:spLocks noGrp="1"/>
          </p:cNvSpPr>
          <p:nvPr>
            <p:ph type="sldNum" sz="quarter" idx="5"/>
          </p:nvPr>
        </p:nvSpPr>
        <p:spPr/>
        <p:txBody>
          <a:bodyPr/>
          <a:lstStyle/>
          <a:p>
            <a:fld id="{08473F99-6EEF-40E5-B8D6-B96912612B39}" type="slidenum">
              <a:t>6</a:t>
            </a:fld>
            <a:endParaRPr lang="en-US"/>
          </a:p>
        </p:txBody>
      </p:sp>
    </p:spTree>
    <p:extLst>
      <p:ext uri="{BB962C8B-B14F-4D97-AF65-F5344CB8AC3E}">
        <p14:creationId xmlns:p14="http://schemas.microsoft.com/office/powerpoint/2010/main" val="4256135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https://wsuacza-my.sharepoint.com/personal/nbuka_wsu_ac_za/_layouts/15/Doc.aspx?sourcedoc=%7B51903B36-31F6-4F00-A780-10D909D4C252%7D&amp;file=Processed%20Data%20Excel.xlsx&amp;action=default&amp;mobileredirect=true
Analysis of vehicle body types reveals that certain shapes, such as sedans and SUVs, dominate sales figures. These preferences reflect consumer needs for practicality, comfort, and style. Understanding which body types are most popular can guide inventory decisions and marketing strategies to align with customer demand.
</a:t>
            </a:r>
          </a:p>
        </p:txBody>
      </p:sp>
      <p:sp>
        <p:nvSpPr>
          <p:cNvPr id="4" name="Slide Number Placeholder 3"/>
          <p:cNvSpPr>
            <a:spLocks noGrp="1"/>
          </p:cNvSpPr>
          <p:nvPr>
            <p:ph type="sldNum" sz="quarter" idx="5"/>
          </p:nvPr>
        </p:nvSpPr>
        <p:spPr/>
        <p:txBody>
          <a:bodyPr/>
          <a:lstStyle/>
          <a:p>
            <a:fld id="{08473F99-6EEF-40E5-B8D6-B96912612B39}" type="slidenum">
              <a:t>7</a:t>
            </a:fld>
            <a:endParaRPr lang="en-US"/>
          </a:p>
        </p:txBody>
      </p:sp>
    </p:spTree>
    <p:extLst>
      <p:ext uri="{BB962C8B-B14F-4D97-AF65-F5344CB8AC3E}">
        <p14:creationId xmlns:p14="http://schemas.microsoft.com/office/powerpoint/2010/main" val="736924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https://wsuacza-my.sharepoint.com/personal/nbuka_wsu_ac_za/_layouts/15/Doc.aspx?sourcedoc=%7B51903B36-31F6-4F00-A780-10D909D4C252%7D&amp;file=Processed%20Data%20Excel.xlsx&amp;action=default&amp;mobileredirect=true
Color trends in vehicle sales show a strong preference for neutral tones such as black, silver, and gray. These colors are often associated with resale value and broad appeal. Dealers can leverage this insight to stock vehicles in preferred colors, thereby increasing the likelihood of quicker sales and customer satisfaction.
</a:t>
            </a:r>
          </a:p>
        </p:txBody>
      </p:sp>
      <p:sp>
        <p:nvSpPr>
          <p:cNvPr id="4" name="Slide Number Placeholder 3"/>
          <p:cNvSpPr>
            <a:spLocks noGrp="1"/>
          </p:cNvSpPr>
          <p:nvPr>
            <p:ph type="sldNum" sz="quarter" idx="5"/>
          </p:nvPr>
        </p:nvSpPr>
        <p:spPr/>
        <p:txBody>
          <a:bodyPr/>
          <a:lstStyle/>
          <a:p>
            <a:fld id="{08473F99-6EEF-40E5-B8D6-B96912612B39}" type="slidenum">
              <a:t>8</a:t>
            </a:fld>
            <a:endParaRPr lang="en-US"/>
          </a:p>
        </p:txBody>
      </p:sp>
    </p:spTree>
    <p:extLst>
      <p:ext uri="{BB962C8B-B14F-4D97-AF65-F5344CB8AC3E}">
        <p14:creationId xmlns:p14="http://schemas.microsoft.com/office/powerpoint/2010/main" val="2591615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https://wsuacza-my.sharepoint.com/personal/nbuka_wsu_ac_za/_layouts/15/Doc.aspx?sourcedoc=%7B51903B36-31F6-4F00-A780-10D909D4C252%7D&amp;file=Processed%20Data%20Excel.xlsx&amp;action=default&amp;mobileredirect=true
Transmission type analysis indicates a dominant preference for automatic vehicles. This trend aligns with consumer expectations for ease of use and driving comfort. Stocking more automatic vehicles can cater to the majority of buyers and improve turnover rates.
</a:t>
            </a:r>
          </a:p>
        </p:txBody>
      </p:sp>
      <p:sp>
        <p:nvSpPr>
          <p:cNvPr id="4" name="Slide Number Placeholder 3"/>
          <p:cNvSpPr>
            <a:spLocks noGrp="1"/>
          </p:cNvSpPr>
          <p:nvPr>
            <p:ph type="sldNum" sz="quarter" idx="5"/>
          </p:nvPr>
        </p:nvSpPr>
        <p:spPr/>
        <p:txBody>
          <a:bodyPr/>
          <a:lstStyle/>
          <a:p>
            <a:fld id="{08473F99-6EEF-40E5-B8D6-B96912612B39}" type="slidenum">
              <a:t>9</a:t>
            </a:fld>
            <a:endParaRPr lang="en-US"/>
          </a:p>
        </p:txBody>
      </p:sp>
    </p:spTree>
    <p:extLst>
      <p:ext uri="{BB962C8B-B14F-4D97-AF65-F5344CB8AC3E}">
        <p14:creationId xmlns:p14="http://schemas.microsoft.com/office/powerpoint/2010/main" val="1121864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https://wsuacza-my.sharepoint.com/personal/nbuka_wsu_ac_za/_layouts/15/Doc.aspx?sourcedoc=%7B51903B36-31F6-4F00-A780-10D909D4C252%7D&amp;file=Processed%20Data%20Excel.xlsx&amp;action=default&amp;mobileredirect=true
High sales are typically driven by factors such as mid-week activity, competitive pricing, and availability of popular models and colors. Conversely, low sales often occur during weekends or when inventory includes niche trims or higher-priced vehicles. Aligning promotional efforts with peak days, maintaining stock of high-demand models, and pricing vehicles competitively are key strategies to enhance sales performance.
</a:t>
            </a:r>
          </a:p>
        </p:txBody>
      </p:sp>
      <p:sp>
        <p:nvSpPr>
          <p:cNvPr id="4" name="Slide Number Placeholder 3"/>
          <p:cNvSpPr>
            <a:spLocks noGrp="1"/>
          </p:cNvSpPr>
          <p:nvPr>
            <p:ph type="sldNum" sz="quarter" idx="5"/>
          </p:nvPr>
        </p:nvSpPr>
        <p:spPr/>
        <p:txBody>
          <a:bodyPr/>
          <a:lstStyle/>
          <a:p>
            <a:fld id="{08473F99-6EEF-40E5-B8D6-B96912612B39}" type="slidenum">
              <a:t>10</a:t>
            </a:fld>
            <a:endParaRPr lang="en-US"/>
          </a:p>
        </p:txBody>
      </p:sp>
    </p:spTree>
    <p:extLst>
      <p:ext uri="{BB962C8B-B14F-4D97-AF65-F5344CB8AC3E}">
        <p14:creationId xmlns:p14="http://schemas.microsoft.com/office/powerpoint/2010/main" val="1072736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https://wsuacza-my.sharepoint.com/personal/nbuka_wsu_ac_za/_layouts/15/Doc.aspx?sourcedoc=%7B51903B36-31F6-4F00-A780-10D909D4C252%7D&amp;file=Processed%20Data%20Excel.xlsx&amp;action=default&amp;mobileredirect=true
The analysis highlights Ford as the top-selling make, Tuesday as the busiest sales day, and September as the peak revenue month. Popular vehicle characteristics include sedan body types, black and silver colors, and automatic transmissions. Next steps include deeper analysis by seller and geographic region, comparison of pricing against market benchmarks, and testing promotional timing to optimize sales outcomes.
</a:t>
            </a:r>
          </a:p>
        </p:txBody>
      </p:sp>
      <p:sp>
        <p:nvSpPr>
          <p:cNvPr id="4" name="Slide Number Placeholder 3"/>
          <p:cNvSpPr>
            <a:spLocks noGrp="1"/>
          </p:cNvSpPr>
          <p:nvPr>
            <p:ph type="sldNum" sz="quarter" idx="5"/>
          </p:nvPr>
        </p:nvSpPr>
        <p:spPr/>
        <p:txBody>
          <a:bodyPr/>
          <a:lstStyle/>
          <a:p>
            <a:fld id="{08473F99-6EEF-40E5-B8D6-B96912612B39}" type="slidenum">
              <a:t>11</a:t>
            </a:fld>
            <a:endParaRPr lang="en-US"/>
          </a:p>
        </p:txBody>
      </p:sp>
    </p:spTree>
    <p:extLst>
      <p:ext uri="{BB962C8B-B14F-4D97-AF65-F5344CB8AC3E}">
        <p14:creationId xmlns:p14="http://schemas.microsoft.com/office/powerpoint/2010/main" val="460966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2B9AEC8-204B-4AD5-8041-BCAF36A74EBE}" type="datetime1">
              <a:rPr lang="en-US" smtClean="0"/>
              <a:t>11/18/2025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7F8DDA4-3B80-4E8A-A8F5-521F73BF9127}"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0658508"/>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B9AEC8-204B-4AD5-8041-BCAF36A74EBE}" type="datetime1">
              <a:rPr lang="en-US" smtClean="0"/>
              <a:t>11/18/2025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24945017"/>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B9AEC8-204B-4AD5-8041-BCAF36A74EBE}" type="datetime1">
              <a:rPr lang="en-US" smtClean="0"/>
              <a:t>11/18/2025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690391992"/>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C0EDEC-0890-4E6D-9DE0-ECAF543851A7}" type="datetime1">
              <a:rPr lang="en-US" smtClean="0"/>
              <a:t>11/18/2025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65581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D88318-BA47-4AD0-805B-25EB53D81BBB}" type="datetime1">
              <a:rPr lang="en-US" smtClean="0"/>
              <a:t>11/18/2025</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8284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AD3F20-2AB6-4A04-8E99-A7FB006776B6}" type="datetime1">
              <a:rPr lang="en-US" smtClean="0"/>
              <a:t>11/18/2025</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608182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B9AEC8-204B-4AD5-8041-BCAF36A74EBE}" type="datetime1">
              <a:rPr lang="en-US" smtClean="0"/>
              <a:t>11/18/2025</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776424105"/>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967112-4E38-4DE6-886D-C6360575EE2E}" type="datetime1">
              <a:rPr lang="en-US" smtClean="0"/>
              <a:t>11/18/2025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713262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93712A-E27F-4D57-B2CA-5B36D6E8A4B0}" type="datetime1">
              <a:rPr lang="en-US" smtClean="0"/>
              <a:t>11/18/2025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50484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82B9AEC8-204B-4AD5-8041-BCAF36A74EBE}" type="datetime1">
              <a:rPr lang="en-US" smtClean="0"/>
              <a:t>11/18/2025</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382540835"/>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B9AEC8-204B-4AD5-8041-BCAF36A74EBE}" type="datetime1">
              <a:rPr lang="en-US" smtClean="0"/>
              <a:t>11/18/2025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20197296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B9AEC8-204B-4AD5-8041-BCAF36A74EBE}" type="datetime1">
              <a:rPr lang="en-US" smtClean="0"/>
              <a:t>11/18/2025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7F8DDA4-3B80-4E8A-A8F5-521F73BF9127}"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869379264"/>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B9AEC8-204B-4AD5-8041-BCAF36A74EBE}" type="datetime1">
              <a:rPr lang="en-US" smtClean="0"/>
              <a:t>11/18/2025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455407031"/>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B9AEC8-204B-4AD5-8041-BCAF36A74EBE}" type="datetime1">
              <a:rPr lang="en-US" smtClean="0"/>
              <a:t>11/18/2025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7F8DDA4-3B80-4E8A-A8F5-521F73BF9127}"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252800584"/>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B9AEC8-204B-4AD5-8041-BCAF36A74EBE}" type="datetime1">
              <a:rPr lang="en-US" smtClean="0"/>
              <a:t>11/18/2025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775084078"/>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B9AEC8-204B-4AD5-8041-BCAF36A74EBE}" type="datetime1">
              <a:rPr lang="en-US" smtClean="0"/>
              <a:t>11/18/2025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248736078"/>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B9AEC8-204B-4AD5-8041-BCAF36A74EBE}" type="datetime1">
              <a:rPr lang="en-US" smtClean="0"/>
              <a:t>11/18/2025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158483257"/>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with Pictur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1">
              <a:rPr lang="en-US" smtClean="0"/>
              <a:t>11/18/2025</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4907280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Content with Picture 1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B15A2BF-1AB9-8F23-A598-958473764918}"/>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6705599 w 12192000"/>
              <a:gd name="connsiteY1" fmla="*/ 0 h 6858000"/>
              <a:gd name="connsiteX2" fmla="*/ 6705599 w 12192000"/>
              <a:gd name="connsiteY2" fmla="*/ 5524500 h 6858000"/>
              <a:gd name="connsiteX3" fmla="*/ 12192000 w 12192000"/>
              <a:gd name="connsiteY3" fmla="*/ 5524500 h 6858000"/>
              <a:gd name="connsiteX4" fmla="*/ 121920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6705599" y="0"/>
                </a:lnTo>
                <a:lnTo>
                  <a:pt x="6705599" y="5524500"/>
                </a:lnTo>
                <a:lnTo>
                  <a:pt x="12192000" y="5524500"/>
                </a:lnTo>
                <a:lnTo>
                  <a:pt x="121920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6" y="868363"/>
            <a:ext cx="4301403" cy="105815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2059527"/>
            <a:ext cx="4301403" cy="262079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4680321"/>
            <a:ext cx="1256738" cy="365125"/>
          </a:xfrm>
          <a:noFill/>
        </p:spPr>
        <p:txBody>
          <a:bodyPr/>
          <a:lstStyle>
            <a:lvl1pPr algn="l">
              <a:defRPr/>
            </a:lvl1pPr>
          </a:lstStyle>
          <a:p>
            <a:fld id="{8394C7EB-3255-4C04-9D3B-DA51FDFD7E92}" type="datetime1">
              <a:rPr lang="en-US" smtClean="0"/>
              <a:t>11/18/2025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46803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4651526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name="Content with Picture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1">
              <a:rPr lang="en-US" smtClean="0"/>
              <a:t>11/18/2025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15351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1">
              <a:rPr lang="en-US" smtClean="0"/>
              <a:t>11/18/2025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8401486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1">
              <a:rPr lang="en-US" smtClean="0"/>
              <a:t>11/18/2025</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863325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82B9AEC8-204B-4AD5-8041-BCAF36A74EBE}" type="datetime1">
              <a:rPr lang="en-US" smtClean="0"/>
              <a:t>11/18/2025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r>
              <a:rPr lang="en-US"/>
              <a:t>Sample Footer Text</a:t>
            </a:r>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90829685"/>
      </p:ext>
    </p:extLst>
  </p:cSld>
  <p:clrMap bg1="dk1" tx1="lt1" bg2="dk2" tx2="lt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6" r:id="rId18"/>
    <p:sldLayoutId id="2147483768" r:id="rId19"/>
    <p:sldLayoutId id="2147483769" r:id="rId20"/>
    <p:sldLayoutId id="2147483770" r:id="rId21"/>
    <p:sldLayoutId id="2147483771" r:id="rId22"/>
  </p:sldLayoutIdLst>
  <p:hf hdr="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Large car parking lot from above">
            <a:extLst>
              <a:ext uri="{FF2B5EF4-FFF2-40B4-BE49-F238E27FC236}">
                <a16:creationId xmlns:a16="http://schemas.microsoft.com/office/drawing/2014/main" id="{31444C42-8C41-4A2B-8379-E5264549783A}"/>
              </a:ext>
            </a:extLst>
          </p:cNvPr>
          <p:cNvPicPr>
            <a:picLocks noChangeAspect="1"/>
          </p:cNvPicPr>
          <p:nvPr/>
        </p:nvPicPr>
        <p:blipFill>
          <a:blip r:embed="rId3"/>
          <a:srcRect r="21016" b="1"/>
          <a:stretch>
            <a:fillRect/>
          </a:stretch>
        </p:blipFill>
        <p:spPr>
          <a:xfrm>
            <a:off x="5503863" y="1354138"/>
            <a:ext cx="5322887" cy="4481512"/>
          </a:xfrm>
          <a:prstGeom prst="rect">
            <a:avLst/>
          </a:prstGeom>
          <a:noFill/>
        </p:spPr>
      </p:pic>
      <p:sp>
        <p:nvSpPr>
          <p:cNvPr id="2" name="Title 1">
            <a:extLst>
              <a:ext uri="{FF2B5EF4-FFF2-40B4-BE49-F238E27FC236}">
                <a16:creationId xmlns:a16="http://schemas.microsoft.com/office/drawing/2014/main" id="{8B38AE1E-A950-4D79-D670-E9A272912213}"/>
              </a:ext>
            </a:extLst>
          </p:cNvPr>
          <p:cNvSpPr>
            <a:spLocks noGrp="1"/>
          </p:cNvSpPr>
          <p:nvPr>
            <p:ph type="ctrTitle"/>
          </p:nvPr>
        </p:nvSpPr>
        <p:spPr>
          <a:xfrm>
            <a:off x="343032" y="3689498"/>
            <a:ext cx="3870876" cy="159488"/>
          </a:xfrm>
        </p:spPr>
        <p:txBody>
          <a:bodyPr anchor="b">
            <a:noAutofit/>
          </a:bodyPr>
          <a:lstStyle/>
          <a:p>
            <a:pPr algn="ctr"/>
            <a:r>
              <a:rPr lang="en-US" sz="4400" dirty="0">
                <a:solidFill>
                  <a:schemeClr val="tx1"/>
                </a:solidFill>
                <a:latin typeface="Bodoni MT Black" panose="02070A03080606020203" pitchFamily="18" charset="0"/>
              </a:rPr>
              <a:t>Leo Mak Car Sales Analysis &amp; Insights</a:t>
            </a:r>
          </a:p>
        </p:txBody>
      </p:sp>
      <p:sp>
        <p:nvSpPr>
          <p:cNvPr id="3" name="Subtitle 2">
            <a:extLst>
              <a:ext uri="{FF2B5EF4-FFF2-40B4-BE49-F238E27FC236}">
                <a16:creationId xmlns:a16="http://schemas.microsoft.com/office/drawing/2014/main" id="{065C726A-139A-4D55-01C8-621C5E3E2F17}"/>
              </a:ext>
            </a:extLst>
          </p:cNvPr>
          <p:cNvSpPr>
            <a:spLocks noGrp="1"/>
          </p:cNvSpPr>
          <p:nvPr>
            <p:ph type="subTitle" idx="1"/>
          </p:nvPr>
        </p:nvSpPr>
        <p:spPr>
          <a:xfrm>
            <a:off x="605431" y="5497033"/>
            <a:ext cx="2318522" cy="784895"/>
          </a:xfrm>
        </p:spPr>
        <p:txBody>
          <a:bodyPr anchor="b">
            <a:normAutofit fontScale="92500"/>
          </a:bodyPr>
          <a:lstStyle/>
          <a:p>
            <a:pPr algn="ctr"/>
            <a:r>
              <a:rPr lang="en-US" dirty="0">
                <a:solidFill>
                  <a:schemeClr val="tx1"/>
                </a:solidFill>
              </a:rPr>
              <a:t>Understanding trends and patterns in vehicle sales</a:t>
            </a:r>
          </a:p>
        </p:txBody>
      </p:sp>
      <p:sp>
        <p:nvSpPr>
          <p:cNvPr id="4" name="Footer Placeholder 3">
            <a:extLst>
              <a:ext uri="{FF2B5EF4-FFF2-40B4-BE49-F238E27FC236}">
                <a16:creationId xmlns:a16="http://schemas.microsoft.com/office/drawing/2014/main" id="{2B77B1AD-971F-5C8D-35B4-9C8DD113D95D}"/>
              </a:ext>
            </a:extLst>
          </p:cNvPr>
          <p:cNvSpPr>
            <a:spLocks noGrp="1"/>
          </p:cNvSpPr>
          <p:nvPr>
            <p:ph type="ftr" sz="quarter" idx="11"/>
          </p:nvPr>
        </p:nvSpPr>
        <p:spPr>
          <a:xfrm>
            <a:off x="10653823" y="612252"/>
            <a:ext cx="964103" cy="221354"/>
          </a:xfrm>
        </p:spPr>
        <p:txBody>
          <a:bodyPr anchor="t">
            <a:normAutofit fontScale="85000" lnSpcReduction="10000"/>
          </a:bodyPr>
          <a:lstStyle/>
          <a:p>
            <a:pPr>
              <a:spcAft>
                <a:spcPts val="600"/>
              </a:spcAft>
            </a:pPr>
            <a:r>
              <a:rPr lang="en-US" dirty="0">
                <a:solidFill>
                  <a:schemeClr val="tx1"/>
                </a:solidFill>
              </a:rPr>
              <a:t>Case Study 2</a:t>
            </a:r>
          </a:p>
        </p:txBody>
      </p:sp>
      <p:sp>
        <p:nvSpPr>
          <p:cNvPr id="6" name="Slide Number Placeholder 5">
            <a:extLst>
              <a:ext uri="{FF2B5EF4-FFF2-40B4-BE49-F238E27FC236}">
                <a16:creationId xmlns:a16="http://schemas.microsoft.com/office/drawing/2014/main" id="{9C420B0A-68E7-6ECE-03F5-D1431BE856C6}"/>
              </a:ext>
            </a:extLst>
          </p:cNvPr>
          <p:cNvSpPr>
            <a:spLocks noGrp="1"/>
          </p:cNvSpPr>
          <p:nvPr>
            <p:ph type="sldNum" sz="quarter" idx="12"/>
          </p:nvPr>
        </p:nvSpPr>
        <p:spPr/>
        <p:txBody>
          <a:bodyPr anchor="ctr">
            <a:normAutofit fontScale="70000" lnSpcReduction="20000"/>
          </a:bodyPr>
          <a:lstStyle/>
          <a:p>
            <a:pPr>
              <a:spcAft>
                <a:spcPts val="600"/>
              </a:spcAft>
            </a:pPr>
            <a:fld id="{27F8DDA4-3B80-4E8A-A8F5-521F73BF9127}" type="slidenum">
              <a:rPr lang="en-US" smtClean="0">
                <a:solidFill>
                  <a:schemeClr val="tx1"/>
                </a:solidFill>
              </a:rPr>
              <a:pPr>
                <a:spcAft>
                  <a:spcPts val="600"/>
                </a:spcAft>
              </a:pPr>
              <a:t>1</a:t>
            </a:fld>
            <a:endParaRPr lang="en-US" dirty="0">
              <a:solidFill>
                <a:schemeClr val="tx1"/>
              </a:solidFill>
            </a:endParaRPr>
          </a:p>
        </p:txBody>
      </p:sp>
    </p:spTree>
    <p:extLst>
      <p:ext uri="{BB962C8B-B14F-4D97-AF65-F5344CB8AC3E}">
        <p14:creationId xmlns:p14="http://schemas.microsoft.com/office/powerpoint/2010/main" val="88418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bg/>
                                          </p:spTgt>
                                        </p:tgtEl>
                                        <p:attrNameLst>
                                          <p:attrName>style.visibility</p:attrName>
                                        </p:attrNameLst>
                                      </p:cBhvr>
                                      <p:to>
                                        <p:strVal val="visible"/>
                                      </p:to>
                                    </p:set>
                                    <p:animEffect transition="in" filter="fade">
                                      <p:cBhvr>
                                        <p:cTn id="10" dur="4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400"/>
                                        <p:tgtEl>
                                          <p:spTgt spid="3">
                                            <p:txEl>
                                              <p:pRg st="0" end="0"/>
                                            </p:txEl>
                                          </p:spTgt>
                                        </p:tgtEl>
                                      </p:cBhvr>
                                    </p:animEffect>
                                  </p:childTnLst>
                                </p:cTn>
                              </p:par>
                              <p:par>
                                <p:cTn id="16" presetID="42"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250"/>
                                        <p:tgtEl>
                                          <p:spTgt spid="3"/>
                                        </p:tgtEl>
                                      </p:cBhvr>
                                    </p:animEffect>
                                    <p:anim calcmode="lin" valueType="num">
                                      <p:cBhvr>
                                        <p:cTn id="19" dur="250" fill="hold"/>
                                        <p:tgtEl>
                                          <p:spTgt spid="3"/>
                                        </p:tgtEl>
                                        <p:attrNameLst>
                                          <p:attrName>ppt_x</p:attrName>
                                        </p:attrNameLst>
                                      </p:cBhvr>
                                      <p:tavLst>
                                        <p:tav tm="0">
                                          <p:val>
                                            <p:strVal val="#ppt_x"/>
                                          </p:val>
                                        </p:tav>
                                        <p:tav tm="100000">
                                          <p:val>
                                            <p:strVal val="#ppt_x"/>
                                          </p:val>
                                        </p:tav>
                                      </p:tavLst>
                                    </p:anim>
                                    <p:anim calcmode="lin" valueType="num">
                                      <p:cBhvr>
                                        <p:cTn id="2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3"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utonomous self drive vehicle">
            <a:extLst>
              <a:ext uri="{FF2B5EF4-FFF2-40B4-BE49-F238E27FC236}">
                <a16:creationId xmlns:a16="http://schemas.microsoft.com/office/drawing/2014/main" id="{71C5D9CD-6F70-4F90-8141-3FD9528D82BC}"/>
              </a:ext>
            </a:extLst>
          </p:cNvPr>
          <p:cNvPicPr>
            <a:picLocks noGrp="1" noChangeAspect="1"/>
          </p:cNvPicPr>
          <p:nvPr>
            <p:ph type="pic" sz="quarter" idx="13"/>
          </p:nvPr>
        </p:nvPicPr>
        <p:blipFill>
          <a:blip r:embed="rId3"/>
          <a:srcRect/>
          <a:stretch>
            <a:fillRect/>
          </a:stretch>
        </p:blipFill>
        <p:spPr>
          <a:xfrm>
            <a:off x="180229" y="2327214"/>
            <a:ext cx="6943040" cy="3905461"/>
          </a:xfrm>
          <a:prstGeom prst="rect">
            <a:avLst/>
          </a:prstGeom>
          <a:noFill/>
        </p:spPr>
      </p:pic>
      <p:sp>
        <p:nvSpPr>
          <p:cNvPr id="2" name="Title 1">
            <a:extLst>
              <a:ext uri="{FF2B5EF4-FFF2-40B4-BE49-F238E27FC236}">
                <a16:creationId xmlns:a16="http://schemas.microsoft.com/office/drawing/2014/main" id="{8A83313C-A6C4-2303-E3E2-8508A7172B9A}"/>
              </a:ext>
            </a:extLst>
          </p:cNvPr>
          <p:cNvSpPr>
            <a:spLocks noGrp="1"/>
          </p:cNvSpPr>
          <p:nvPr>
            <p:ph type="title"/>
          </p:nvPr>
        </p:nvSpPr>
        <p:spPr/>
        <p:txBody>
          <a:bodyPr anchor="b">
            <a:normAutofit fontScale="90000"/>
          </a:bodyPr>
          <a:lstStyle/>
          <a:p>
            <a:r>
              <a:rPr lang="en-US" dirty="0">
                <a:latin typeface="Bodoni MT Black" panose="02070A03080606020203" pitchFamily="18" charset="0"/>
              </a:rPr>
              <a:t>Introduction and Scope</a:t>
            </a:r>
          </a:p>
        </p:txBody>
      </p:sp>
      <p:sp>
        <p:nvSpPr>
          <p:cNvPr id="4" name="Content Placeholder 3">
            <a:extLst>
              <a:ext uri="{FF2B5EF4-FFF2-40B4-BE49-F238E27FC236}">
                <a16:creationId xmlns:a16="http://schemas.microsoft.com/office/drawing/2014/main" id="{6E663484-8389-287A-4E83-A1D7D759C21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408588" y="2769197"/>
            <a:ext cx="4301403" cy="2620794"/>
          </a:xfrm>
        </p:spPr>
        <p:txBody>
          <a:bodyPr>
            <a:noAutofit/>
          </a:bodyPr>
          <a:lstStyle/>
          <a:p>
            <a:pPr marL="0" indent="0">
              <a:lnSpc>
                <a:spcPct val="110000"/>
              </a:lnSpc>
              <a:spcBef>
                <a:spcPts val="2500"/>
              </a:spcBef>
              <a:buFont typeface="Arial" panose="020B0604020202020204" pitchFamily="34" charset="0"/>
              <a:buNone/>
            </a:pPr>
            <a:r>
              <a:rPr lang="en-US" sz="1400" dirty="0"/>
              <a:t>Sales Data Overview</a:t>
            </a:r>
          </a:p>
          <a:p>
            <a:pPr marL="0" lvl="1" indent="0">
              <a:lnSpc>
                <a:spcPct val="110000"/>
              </a:lnSpc>
              <a:buFont typeface="Arial" panose="020B0604020202020204" pitchFamily="34" charset="0"/>
              <a:buNone/>
            </a:pPr>
            <a:r>
              <a:rPr lang="en-US" sz="1400" dirty="0"/>
              <a:t>Analysis covers units sold by make, revenue by month and model, and sales by day of week.</a:t>
            </a:r>
          </a:p>
          <a:p>
            <a:pPr marL="0" indent="0">
              <a:lnSpc>
                <a:spcPct val="110000"/>
              </a:lnSpc>
              <a:spcBef>
                <a:spcPts val="2500"/>
              </a:spcBef>
              <a:buFont typeface="Arial" panose="020B0604020202020204" pitchFamily="34" charset="0"/>
              <a:buNone/>
            </a:pPr>
            <a:r>
              <a:rPr lang="en-US" sz="1400" dirty="0"/>
              <a:t>Vehicle Characteristics</a:t>
            </a:r>
          </a:p>
          <a:p>
            <a:pPr marL="0" lvl="1" indent="0">
              <a:lnSpc>
                <a:spcPct val="110000"/>
              </a:lnSpc>
              <a:buFont typeface="Arial" panose="020B0604020202020204" pitchFamily="34" charset="0"/>
              <a:buNone/>
            </a:pPr>
            <a:r>
              <a:rPr lang="en-US" sz="1400" dirty="0"/>
              <a:t>Examines popular vehicle features such as body shape, color, and transmission type influencing sales.</a:t>
            </a:r>
          </a:p>
          <a:p>
            <a:pPr marL="0" indent="0">
              <a:lnSpc>
                <a:spcPct val="110000"/>
              </a:lnSpc>
              <a:spcBef>
                <a:spcPts val="2500"/>
              </a:spcBef>
              <a:buFont typeface="Arial" panose="020B0604020202020204" pitchFamily="34" charset="0"/>
              <a:buNone/>
            </a:pPr>
            <a:r>
              <a:rPr lang="en-US" sz="1400" dirty="0"/>
              <a:t>Data-Driven Insights</a:t>
            </a:r>
          </a:p>
          <a:p>
            <a:pPr marL="0" lvl="1" indent="0">
              <a:lnSpc>
                <a:spcPct val="110000"/>
              </a:lnSpc>
              <a:buFont typeface="Arial" panose="020B0604020202020204" pitchFamily="34" charset="0"/>
              <a:buNone/>
            </a:pPr>
            <a:r>
              <a:rPr lang="en-US" sz="1400" dirty="0"/>
              <a:t>Insights identify trends from thousands of records to guide inventory and marketing strategies.</a:t>
            </a:r>
          </a:p>
        </p:txBody>
      </p:sp>
      <p:sp>
        <p:nvSpPr>
          <p:cNvPr id="5" name="Footer Placeholder 4">
            <a:extLst>
              <a:ext uri="{FF2B5EF4-FFF2-40B4-BE49-F238E27FC236}">
                <a16:creationId xmlns:a16="http://schemas.microsoft.com/office/drawing/2014/main" id="{D5ABEB5B-1839-CB73-0C15-588092C520F3}"/>
              </a:ext>
            </a:extLst>
          </p:cNvPr>
          <p:cNvSpPr>
            <a:spLocks noGrp="1"/>
          </p:cNvSpPr>
          <p:nvPr>
            <p:ph type="ftr" sz="quarter" idx="11"/>
          </p:nvPr>
        </p:nvSpPr>
        <p:spPr/>
        <p:txBody>
          <a:bodyPr anchor="ctr">
            <a:normAutofit/>
          </a:bodyPr>
          <a:lstStyle/>
          <a:p>
            <a:pPr>
              <a:spcAft>
                <a:spcPts val="600"/>
              </a:spcAft>
            </a:pPr>
            <a:r>
              <a:rPr lang="en-US" dirty="0"/>
              <a:t>Case study 2</a:t>
            </a:r>
          </a:p>
        </p:txBody>
      </p:sp>
      <p:sp>
        <p:nvSpPr>
          <p:cNvPr id="7" name="Slide Number Placeholder 6">
            <a:extLst>
              <a:ext uri="{FF2B5EF4-FFF2-40B4-BE49-F238E27FC236}">
                <a16:creationId xmlns:a16="http://schemas.microsoft.com/office/drawing/2014/main" id="{6A11963F-DFCD-B7F6-CE41-468097B275C8}"/>
              </a:ext>
            </a:extLst>
          </p:cNvPr>
          <p:cNvSpPr>
            <a:spLocks noGrp="1"/>
          </p:cNvSpPr>
          <p:nvPr>
            <p:ph type="sldNum" sz="quarter" idx="12"/>
          </p:nvPr>
        </p:nvSpPr>
        <p:spPr>
          <a:xfrm>
            <a:off x="11582399" y="6232675"/>
            <a:ext cx="429372" cy="365125"/>
          </a:xfrm>
        </p:spPr>
        <p:txBody>
          <a:bodyPr anchor="ctr">
            <a:normAutofit fontScale="70000" lnSpcReduction="20000"/>
          </a:bodyPr>
          <a:lstStyle/>
          <a:p>
            <a:pPr>
              <a:spcAft>
                <a:spcPts val="600"/>
              </a:spcAft>
            </a:pPr>
            <a:fld id="{27F8DDA4-3B80-4E8A-A8F5-521F73BF9127}" type="slidenum">
              <a:rPr lang="en-US" smtClean="0"/>
              <a:pPr>
                <a:spcAft>
                  <a:spcPts val="600"/>
                </a:spcAft>
              </a:pPr>
              <a:t>2</a:t>
            </a:fld>
            <a:endParaRPr lang="en-US"/>
          </a:p>
        </p:txBody>
      </p:sp>
      <p:sp>
        <p:nvSpPr>
          <p:cNvPr id="9" name="TextBox 8">
            <a:extLst>
              <a:ext uri="{FF2B5EF4-FFF2-40B4-BE49-F238E27FC236}">
                <a16:creationId xmlns:a16="http://schemas.microsoft.com/office/drawing/2014/main" id="{4A7FBD86-C781-D9DD-CF89-163561552176}"/>
              </a:ext>
            </a:extLst>
          </p:cNvPr>
          <p:cNvSpPr txBox="1"/>
          <p:nvPr/>
        </p:nvSpPr>
        <p:spPr>
          <a:xfrm>
            <a:off x="962600" y="503237"/>
            <a:ext cx="4970367" cy="1200329"/>
          </a:xfrm>
          <a:prstGeom prst="rect">
            <a:avLst/>
          </a:prstGeom>
          <a:noFill/>
        </p:spPr>
        <p:txBody>
          <a:bodyPr wrap="square">
            <a:spAutoFit/>
          </a:bodyPr>
          <a:lstStyle/>
          <a:p>
            <a:r>
              <a:rPr lang="en-US" sz="7200" b="1" dirty="0">
                <a:latin typeface="Bodoni MT Black" panose="02070A03080606020203" pitchFamily="18" charset="0"/>
                <a:cs typeface="Biome Light" panose="020B0502040204020203" pitchFamily="34" charset="0"/>
              </a:rPr>
              <a:t>Overview</a:t>
            </a:r>
            <a:endParaRPr lang="en-ZA" sz="7200" b="1" dirty="0">
              <a:latin typeface="Bodoni MT Black" panose="02070A03080606020203" pitchFamily="18" charset="0"/>
              <a:cs typeface="Biome Light" panose="020B0502040204020203" pitchFamily="34" charset="0"/>
            </a:endParaRPr>
          </a:p>
        </p:txBody>
      </p:sp>
    </p:spTree>
    <p:extLst>
      <p:ext uri="{BB962C8B-B14F-4D97-AF65-F5344CB8AC3E}">
        <p14:creationId xmlns:p14="http://schemas.microsoft.com/office/powerpoint/2010/main" val="9018050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4D202-D872-9A42-EB22-B3C1FF67B1DD}"/>
              </a:ext>
            </a:extLst>
          </p:cNvPr>
          <p:cNvSpPr>
            <a:spLocks noGrp="1"/>
          </p:cNvSpPr>
          <p:nvPr>
            <p:ph type="title"/>
          </p:nvPr>
        </p:nvSpPr>
        <p:spPr>
          <a:xfrm>
            <a:off x="312073" y="5913437"/>
            <a:ext cx="5684690" cy="765152"/>
          </a:xfrm>
        </p:spPr>
        <p:txBody>
          <a:bodyPr anchor="t">
            <a:normAutofit fontScale="90000"/>
          </a:bodyPr>
          <a:lstStyle/>
          <a:p>
            <a:r>
              <a:rPr lang="en-US" dirty="0">
                <a:latin typeface="Bodoni MT Black" panose="02070A03080606020203" pitchFamily="18" charset="0"/>
              </a:rPr>
              <a:t>Units Sold by Make</a:t>
            </a:r>
          </a:p>
        </p:txBody>
      </p:sp>
      <p:graphicFrame>
        <p:nvGraphicFramePr>
          <p:cNvPr id="8" name="Content Placeholder 7">
            <a:extLst>
              <a:ext uri="{FF2B5EF4-FFF2-40B4-BE49-F238E27FC236}">
                <a16:creationId xmlns:a16="http://schemas.microsoft.com/office/drawing/2014/main" id="{7461C498-B0D2-4765-B0A6-F75906585141}"/>
              </a:ext>
            </a:extLst>
          </p:cNvPr>
          <p:cNvGraphicFramePr>
            <a:graphicFrameLocks noGrp="1"/>
          </p:cNvGraphicFramePr>
          <p:nvPr>
            <p:ph idx="1"/>
            <p:extLst>
              <p:ext uri="{D42A27DB-BD31-4B8C-83A1-F6EECF244321}">
                <p14:modId xmlns:p14="http://schemas.microsoft.com/office/powerpoint/2010/main" val="3688625550"/>
              </p:ext>
            </p:extLst>
          </p:nvPr>
        </p:nvGraphicFramePr>
        <p:xfrm>
          <a:off x="5487114" y="944563"/>
          <a:ext cx="6392813" cy="4857696"/>
        </p:xfrm>
        <a:graphic>
          <a:graphicData uri="http://schemas.openxmlformats.org/drawingml/2006/table">
            <a:tbl>
              <a:tblPr firstRow="1" bandRow="1">
                <a:noFill/>
                <a:tableStyleId>{5C22544A-7EE6-4342-B048-85BDC9FD1C3A}</a:tableStyleId>
              </a:tblPr>
              <a:tblGrid>
                <a:gridCol w="2449621">
                  <a:extLst>
                    <a:ext uri="{9D8B030D-6E8A-4147-A177-3AD203B41FA5}">
                      <a16:colId xmlns:a16="http://schemas.microsoft.com/office/drawing/2014/main" val="3309393046"/>
                    </a:ext>
                  </a:extLst>
                </a:gridCol>
                <a:gridCol w="3943192">
                  <a:extLst>
                    <a:ext uri="{9D8B030D-6E8A-4147-A177-3AD203B41FA5}">
                      <a16:colId xmlns:a16="http://schemas.microsoft.com/office/drawing/2014/main" val="3068179855"/>
                    </a:ext>
                  </a:extLst>
                </a:gridCol>
              </a:tblGrid>
              <a:tr h="867363">
                <a:tc>
                  <a:txBody>
                    <a:bodyPr/>
                    <a:lstStyle/>
                    <a:p>
                      <a:pPr>
                        <a:buNone/>
                      </a:pPr>
                      <a:r>
                        <a:rPr lang="en-US" sz="2700" b="1" cap="all" spc="150" dirty="0">
                          <a:solidFill>
                            <a:schemeClr val="tx1"/>
                          </a:solidFill>
                        </a:rPr>
                        <a:t>Make</a:t>
                      </a:r>
                    </a:p>
                  </a:txBody>
                  <a:tcPr marL="230818" marR="230818" marT="230818" marB="230818"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700" b="1" cap="all" spc="150">
                          <a:solidFill>
                            <a:schemeClr val="tx1"/>
                          </a:solidFill>
                        </a:rPr>
                        <a:t>Units Sold</a:t>
                      </a:r>
                    </a:p>
                  </a:txBody>
                  <a:tcPr marL="230818" marR="230818" marT="230818" marB="230818"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1477876308"/>
                  </a:ext>
                </a:extLst>
              </a:tr>
              <a:tr h="795877">
                <a:tc>
                  <a:txBody>
                    <a:bodyPr/>
                    <a:lstStyle/>
                    <a:p>
                      <a:pPr>
                        <a:buNone/>
                      </a:pPr>
                      <a:r>
                        <a:rPr lang="en-US" sz="2200" b="1" cap="none" spc="0" dirty="0">
                          <a:solidFill>
                            <a:schemeClr val="tx1"/>
                          </a:solidFill>
                        </a:rPr>
                        <a:t>Ford</a:t>
                      </a:r>
                    </a:p>
                  </a:txBody>
                  <a:tcPr marL="230818" marR="230818" marT="230818" marB="230818"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2200" cap="none" spc="0" dirty="0">
                          <a:solidFill>
                            <a:schemeClr val="tx1"/>
                          </a:solidFill>
                        </a:rPr>
                        <a:t>166,000</a:t>
                      </a:r>
                    </a:p>
                  </a:txBody>
                  <a:tcPr marL="230818" marR="230818" marT="230818" marB="230818"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3285393903"/>
                  </a:ext>
                </a:extLst>
              </a:tr>
              <a:tr h="795877">
                <a:tc>
                  <a:txBody>
                    <a:bodyPr/>
                    <a:lstStyle/>
                    <a:p>
                      <a:pPr>
                        <a:buNone/>
                      </a:pPr>
                      <a:r>
                        <a:rPr lang="en-US" sz="2200" b="1" cap="none" spc="0">
                          <a:solidFill>
                            <a:schemeClr val="tx1"/>
                          </a:solidFill>
                        </a:rPr>
                        <a:t>Chevrolet</a:t>
                      </a:r>
                    </a:p>
                  </a:txBody>
                  <a:tcPr marL="230818" marR="230818" marT="230818" marB="23081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dirty="0">
                          <a:solidFill>
                            <a:schemeClr val="tx1"/>
                          </a:solidFill>
                        </a:rPr>
                        <a:t>154,000</a:t>
                      </a:r>
                    </a:p>
                  </a:txBody>
                  <a:tcPr marL="230818" marR="230818" marT="230818" marB="23081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622961828"/>
                  </a:ext>
                </a:extLst>
              </a:tr>
              <a:tr h="795877">
                <a:tc>
                  <a:txBody>
                    <a:bodyPr/>
                    <a:lstStyle/>
                    <a:p>
                      <a:pPr>
                        <a:buNone/>
                      </a:pPr>
                      <a:r>
                        <a:rPr lang="en-US" sz="2200" b="1" cap="none" spc="0">
                          <a:solidFill>
                            <a:schemeClr val="tx1"/>
                          </a:solidFill>
                        </a:rPr>
                        <a:t>Nissan</a:t>
                      </a:r>
                    </a:p>
                  </a:txBody>
                  <a:tcPr marL="230818" marR="230818" marT="230818" marB="23081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dirty="0">
                          <a:solidFill>
                            <a:schemeClr val="tx1"/>
                          </a:solidFill>
                        </a:rPr>
                        <a:t>164,000</a:t>
                      </a:r>
                    </a:p>
                  </a:txBody>
                  <a:tcPr marL="230818" marR="230818" marT="230818" marB="23081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56688902"/>
                  </a:ext>
                </a:extLst>
              </a:tr>
              <a:tr h="795877">
                <a:tc>
                  <a:txBody>
                    <a:bodyPr/>
                    <a:lstStyle/>
                    <a:p>
                      <a:pPr>
                        <a:buNone/>
                      </a:pPr>
                      <a:r>
                        <a:rPr lang="en-US" sz="2200" b="1" cap="none" spc="0">
                          <a:solidFill>
                            <a:schemeClr val="tx1"/>
                          </a:solidFill>
                        </a:rPr>
                        <a:t>Toyota</a:t>
                      </a:r>
                    </a:p>
                  </a:txBody>
                  <a:tcPr marL="230818" marR="230818" marT="230818" marB="23081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200" cap="none" spc="0" dirty="0">
                          <a:solidFill>
                            <a:schemeClr val="tx1"/>
                          </a:solidFill>
                        </a:rPr>
                        <a:t>59,000</a:t>
                      </a:r>
                    </a:p>
                  </a:txBody>
                  <a:tcPr marL="230818" marR="230818" marT="230818" marB="23081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091799876"/>
                  </a:ext>
                </a:extLst>
              </a:tr>
              <a:tr h="795877">
                <a:tc>
                  <a:txBody>
                    <a:bodyPr/>
                    <a:lstStyle/>
                    <a:p>
                      <a:pPr>
                        <a:buNone/>
                      </a:pPr>
                      <a:r>
                        <a:rPr lang="en-US" sz="2200" b="1" cap="none" spc="0">
                          <a:solidFill>
                            <a:schemeClr val="tx1"/>
                          </a:solidFill>
                        </a:rPr>
                        <a:t>Honda</a:t>
                      </a:r>
                    </a:p>
                  </a:txBody>
                  <a:tcPr marL="230818" marR="230818" marT="230818" marB="230818"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2200" b="0" cap="none" spc="0" dirty="0">
                          <a:solidFill>
                            <a:schemeClr val="tx1"/>
                          </a:solidFill>
                        </a:rPr>
                        <a:t>20,000</a:t>
                      </a:r>
                    </a:p>
                  </a:txBody>
                  <a:tcPr marL="230818" marR="230818" marT="230818" marB="230818"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1790744891"/>
                  </a:ext>
                </a:extLst>
              </a:tr>
            </a:tbl>
          </a:graphicData>
        </a:graphic>
      </p:graphicFrame>
      <p:sp>
        <p:nvSpPr>
          <p:cNvPr id="6" name="Slide Number Placeholder 5">
            <a:extLst>
              <a:ext uri="{FF2B5EF4-FFF2-40B4-BE49-F238E27FC236}">
                <a16:creationId xmlns:a16="http://schemas.microsoft.com/office/drawing/2014/main" id="{C0748432-39A1-FF47-821C-CB9C12D796AA}"/>
              </a:ext>
            </a:extLst>
          </p:cNvPr>
          <p:cNvSpPr>
            <a:spLocks noGrp="1"/>
          </p:cNvSpPr>
          <p:nvPr>
            <p:ph type="sldNum" sz="quarter" idx="12"/>
          </p:nvPr>
        </p:nvSpPr>
        <p:spPr/>
        <p:txBody>
          <a:bodyPr anchor="ctr">
            <a:normAutofit/>
          </a:bodyPr>
          <a:lstStyle/>
          <a:p>
            <a:pPr>
              <a:spcAft>
                <a:spcPts val="600"/>
              </a:spcAft>
            </a:pPr>
            <a:fld id="{27F8DDA4-3B80-4E8A-A8F5-521F73BF9127}" type="slidenum">
              <a:rPr lang="en-US" smtClean="0"/>
              <a:pPr>
                <a:spcAft>
                  <a:spcPts val="600"/>
                </a:spcAft>
              </a:pPr>
              <a:t>3</a:t>
            </a:fld>
            <a:endParaRPr lang="en-US"/>
          </a:p>
        </p:txBody>
      </p:sp>
      <p:sp>
        <p:nvSpPr>
          <p:cNvPr id="7" name="TextBox 6">
            <a:extLst>
              <a:ext uri="{FF2B5EF4-FFF2-40B4-BE49-F238E27FC236}">
                <a16:creationId xmlns:a16="http://schemas.microsoft.com/office/drawing/2014/main" id="{E1648D9A-5627-8F39-17D2-83359493396D}"/>
              </a:ext>
            </a:extLst>
          </p:cNvPr>
          <p:cNvSpPr txBox="1"/>
          <p:nvPr/>
        </p:nvSpPr>
        <p:spPr>
          <a:xfrm>
            <a:off x="312073" y="298232"/>
            <a:ext cx="8938253" cy="646331"/>
          </a:xfrm>
          <a:prstGeom prst="rect">
            <a:avLst/>
          </a:prstGeom>
          <a:noFill/>
        </p:spPr>
        <p:txBody>
          <a:bodyPr wrap="square">
            <a:spAutoFit/>
          </a:bodyPr>
          <a:lstStyle/>
          <a:p>
            <a:r>
              <a:rPr lang="en-US" sz="3600" dirty="0">
                <a:latin typeface="Bodoni MT Black" panose="02070A03080606020203" pitchFamily="18" charset="0"/>
              </a:rPr>
              <a:t>Sales Performance by Make and Day</a:t>
            </a:r>
            <a:endParaRPr lang="en-ZA" sz="3600" dirty="0">
              <a:latin typeface="Bodoni MT Black" panose="02070A03080606020203" pitchFamily="18" charset="0"/>
            </a:endParaRPr>
          </a:p>
        </p:txBody>
      </p:sp>
      <p:pic>
        <p:nvPicPr>
          <p:cNvPr id="12" name="Picture 11" descr="A group of logos of cars&#10;&#10;AI-generated content may be incorrect.">
            <a:extLst>
              <a:ext uri="{FF2B5EF4-FFF2-40B4-BE49-F238E27FC236}">
                <a16:creationId xmlns:a16="http://schemas.microsoft.com/office/drawing/2014/main" id="{0FA46C4D-9DD5-5A5B-18E5-C8F8E4299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073" y="1773421"/>
            <a:ext cx="4878904" cy="2787945"/>
          </a:xfrm>
          <a:prstGeom prst="rect">
            <a:avLst/>
          </a:prstGeom>
        </p:spPr>
      </p:pic>
    </p:spTree>
    <p:extLst>
      <p:ext uri="{BB962C8B-B14F-4D97-AF65-F5344CB8AC3E}">
        <p14:creationId xmlns:p14="http://schemas.microsoft.com/office/powerpoint/2010/main" val="90312528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0AD9B-314F-036B-7F7A-AB9CFE502136}"/>
              </a:ext>
            </a:extLst>
          </p:cNvPr>
          <p:cNvSpPr>
            <a:spLocks noGrp="1"/>
          </p:cNvSpPr>
          <p:nvPr>
            <p:ph type="title"/>
          </p:nvPr>
        </p:nvSpPr>
        <p:spPr>
          <a:xfrm>
            <a:off x="1226472" y="508097"/>
            <a:ext cx="10820400" cy="829713"/>
          </a:xfrm>
        </p:spPr>
        <p:txBody>
          <a:bodyPr anchor="b">
            <a:normAutofit/>
          </a:bodyPr>
          <a:lstStyle/>
          <a:p>
            <a:r>
              <a:rPr lang="en-US" dirty="0">
                <a:latin typeface="Bodoni MT Black" panose="02070A03080606020203" pitchFamily="18" charset="0"/>
              </a:rPr>
              <a:t>Units Sold by Day of the Week</a:t>
            </a:r>
          </a:p>
        </p:txBody>
      </p:sp>
      <p:graphicFrame>
        <p:nvGraphicFramePr>
          <p:cNvPr id="8" name="Content Placeholder 7">
            <a:extLst>
              <a:ext uri="{FF2B5EF4-FFF2-40B4-BE49-F238E27FC236}">
                <a16:creationId xmlns:a16="http://schemas.microsoft.com/office/drawing/2014/main" id="{4BA6BA53-B5EB-4284-8F72-C1782D89BFCD}"/>
              </a:ext>
            </a:extLst>
          </p:cNvPr>
          <p:cNvGraphicFramePr>
            <a:graphicFrameLocks noGrp="1"/>
          </p:cNvGraphicFramePr>
          <p:nvPr>
            <p:ph idx="1"/>
          </p:nvPr>
        </p:nvGraphicFramePr>
        <p:xfrm>
          <a:off x="1474819" y="1736176"/>
          <a:ext cx="9237471" cy="4198870"/>
        </p:xfrm>
        <a:graphic>
          <a:graphicData uri="http://schemas.openxmlformats.org/drawingml/2006/table">
            <a:tbl>
              <a:tblPr firstRow="1" bandRow="1">
                <a:noFill/>
                <a:tableStyleId>{5C22544A-7EE6-4342-B048-85BDC9FD1C3A}</a:tableStyleId>
              </a:tblPr>
              <a:tblGrid>
                <a:gridCol w="2379823">
                  <a:extLst>
                    <a:ext uri="{9D8B030D-6E8A-4147-A177-3AD203B41FA5}">
                      <a16:colId xmlns:a16="http://schemas.microsoft.com/office/drawing/2014/main" val="2970994013"/>
                    </a:ext>
                  </a:extLst>
                </a:gridCol>
                <a:gridCol w="3343582">
                  <a:extLst>
                    <a:ext uri="{9D8B030D-6E8A-4147-A177-3AD203B41FA5}">
                      <a16:colId xmlns:a16="http://schemas.microsoft.com/office/drawing/2014/main" val="3281001931"/>
                    </a:ext>
                  </a:extLst>
                </a:gridCol>
                <a:gridCol w="3514066">
                  <a:extLst>
                    <a:ext uri="{9D8B030D-6E8A-4147-A177-3AD203B41FA5}">
                      <a16:colId xmlns:a16="http://schemas.microsoft.com/office/drawing/2014/main" val="1188681428"/>
                    </a:ext>
                  </a:extLst>
                </a:gridCol>
              </a:tblGrid>
              <a:tr h="751420">
                <a:tc>
                  <a:txBody>
                    <a:bodyPr/>
                    <a:lstStyle/>
                    <a:p>
                      <a:pPr>
                        <a:buNone/>
                      </a:pPr>
                      <a:r>
                        <a:rPr lang="en-US" sz="2200" b="1" cap="all" spc="150">
                          <a:solidFill>
                            <a:schemeClr val="tx1"/>
                          </a:solidFill>
                        </a:rPr>
                        <a:t>Day</a:t>
                      </a:r>
                    </a:p>
                  </a:txBody>
                  <a:tcPr marL="185791" marR="185791" marT="185791" marB="185791"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200" b="1" cap="all" spc="150">
                          <a:solidFill>
                            <a:schemeClr val="tx1"/>
                          </a:solidFill>
                        </a:rPr>
                        <a:t>Units Sold</a:t>
                      </a:r>
                    </a:p>
                  </a:txBody>
                  <a:tcPr marL="185791" marR="185791" marT="185791" marB="185791"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200" b="1" cap="all" spc="150">
                          <a:solidFill>
                            <a:schemeClr val="tx1"/>
                          </a:solidFill>
                        </a:rPr>
                        <a:t>Percentage</a:t>
                      </a:r>
                    </a:p>
                  </a:txBody>
                  <a:tcPr marL="185791" marR="185791" marT="185791" marB="185791"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3715183305"/>
                  </a:ext>
                </a:extLst>
              </a:tr>
              <a:tr h="689490">
                <a:tc>
                  <a:txBody>
                    <a:bodyPr/>
                    <a:lstStyle/>
                    <a:p>
                      <a:pPr>
                        <a:buNone/>
                      </a:pPr>
                      <a:r>
                        <a:rPr lang="en-US" sz="1800" b="1" cap="none" spc="0">
                          <a:solidFill>
                            <a:schemeClr val="tx1"/>
                          </a:solidFill>
                        </a:rPr>
                        <a:t>Tuesday</a:t>
                      </a:r>
                    </a:p>
                  </a:txBody>
                  <a:tcPr marL="185791" marR="185791" marT="185791" marB="18579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166,000</a:t>
                      </a:r>
                    </a:p>
                  </a:txBody>
                  <a:tcPr marL="185791" marR="185791" marT="185791" marB="18579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29.72%</a:t>
                      </a:r>
                    </a:p>
                  </a:txBody>
                  <a:tcPr marL="185791" marR="185791" marT="185791" marB="18579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2569387004"/>
                  </a:ext>
                </a:extLst>
              </a:tr>
              <a:tr h="689490">
                <a:tc>
                  <a:txBody>
                    <a:bodyPr/>
                    <a:lstStyle/>
                    <a:p>
                      <a:pPr>
                        <a:buNone/>
                      </a:pPr>
                      <a:r>
                        <a:rPr lang="en-US" sz="1800" b="1" cap="none" spc="0">
                          <a:solidFill>
                            <a:schemeClr val="tx1"/>
                          </a:solidFill>
                        </a:rPr>
                        <a:t>Friday</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154,000</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27.51%</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193721458"/>
                  </a:ext>
                </a:extLst>
              </a:tr>
              <a:tr h="689490">
                <a:tc>
                  <a:txBody>
                    <a:bodyPr/>
                    <a:lstStyle/>
                    <a:p>
                      <a:pPr>
                        <a:buNone/>
                      </a:pPr>
                      <a:r>
                        <a:rPr lang="en-US" sz="1800" b="1" cap="none" spc="0">
                          <a:solidFill>
                            <a:schemeClr val="tx1"/>
                          </a:solidFill>
                        </a:rPr>
                        <a:t>Sunday</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164,000</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29.34%</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89800022"/>
                  </a:ext>
                </a:extLst>
              </a:tr>
              <a:tr h="689490">
                <a:tc>
                  <a:txBody>
                    <a:bodyPr/>
                    <a:lstStyle/>
                    <a:p>
                      <a:pPr>
                        <a:buNone/>
                      </a:pPr>
                      <a:r>
                        <a:rPr lang="en-US" sz="1800" b="1" cap="none" spc="0">
                          <a:solidFill>
                            <a:schemeClr val="tx1"/>
                          </a:solidFill>
                        </a:rPr>
                        <a:t>Wednesday</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59,000</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10.58%</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043219720"/>
                  </a:ext>
                </a:extLst>
              </a:tr>
              <a:tr h="689490">
                <a:tc>
                  <a:txBody>
                    <a:bodyPr/>
                    <a:lstStyle/>
                    <a:p>
                      <a:pPr>
                        <a:buNone/>
                      </a:pPr>
                      <a:r>
                        <a:rPr lang="en-US" sz="1800" b="1" cap="none" spc="0">
                          <a:solidFill>
                            <a:schemeClr val="tx1"/>
                          </a:solidFill>
                        </a:rPr>
                        <a:t>Thursday</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800" cap="none" spc="0" dirty="0">
                          <a:solidFill>
                            <a:schemeClr val="tx1"/>
                          </a:solidFill>
                        </a:rPr>
                        <a:t>16,000</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800" cap="none" spc="0" dirty="0">
                          <a:solidFill>
                            <a:schemeClr val="tx1"/>
                          </a:solidFill>
                        </a:rPr>
                        <a:t>2.82%</a:t>
                      </a:r>
                    </a:p>
                  </a:txBody>
                  <a:tcPr marL="185791" marR="185791" marT="185791" marB="185791"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3663383249"/>
                  </a:ext>
                </a:extLst>
              </a:tr>
            </a:tbl>
          </a:graphicData>
        </a:graphic>
      </p:graphicFrame>
      <p:sp>
        <p:nvSpPr>
          <p:cNvPr id="6" name="Slide Number Placeholder 5">
            <a:extLst>
              <a:ext uri="{FF2B5EF4-FFF2-40B4-BE49-F238E27FC236}">
                <a16:creationId xmlns:a16="http://schemas.microsoft.com/office/drawing/2014/main" id="{9ED1A7B5-DA3B-F3C8-67C6-CDE8A2A03F5F}"/>
              </a:ext>
            </a:extLst>
          </p:cNvPr>
          <p:cNvSpPr>
            <a:spLocks noGrp="1"/>
          </p:cNvSpPr>
          <p:nvPr>
            <p:ph type="sldNum" sz="quarter" idx="12"/>
          </p:nvPr>
        </p:nvSpPr>
        <p:spPr/>
        <p:txBody>
          <a:bodyPr anchor="ctr">
            <a:normAutofit/>
          </a:bodyPr>
          <a:lstStyle/>
          <a:p>
            <a:pPr>
              <a:spcAft>
                <a:spcPts val="600"/>
              </a:spcAft>
            </a:pPr>
            <a:fld id="{27F8DDA4-3B80-4E8A-A8F5-521F73BF9127}" type="slidenum">
              <a:rPr lang="en-US" smtClean="0"/>
              <a:pPr>
                <a:spcAft>
                  <a:spcPts val="600"/>
                </a:spcAft>
              </a:pPr>
              <a:t>4</a:t>
            </a:fld>
            <a:endParaRPr lang="en-US"/>
          </a:p>
        </p:txBody>
      </p:sp>
    </p:spTree>
    <p:extLst>
      <p:ext uri="{BB962C8B-B14F-4D97-AF65-F5344CB8AC3E}">
        <p14:creationId xmlns:p14="http://schemas.microsoft.com/office/powerpoint/2010/main" val="67084417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3B39F-7BEE-A8D7-E091-AF38A782C47E}"/>
              </a:ext>
            </a:extLst>
          </p:cNvPr>
          <p:cNvSpPr>
            <a:spLocks noGrp="1"/>
          </p:cNvSpPr>
          <p:nvPr>
            <p:ph type="title"/>
          </p:nvPr>
        </p:nvSpPr>
        <p:spPr>
          <a:xfrm>
            <a:off x="761206" y="5502275"/>
            <a:ext cx="8534400" cy="669925"/>
          </a:xfrm>
        </p:spPr>
        <p:txBody>
          <a:bodyPr anchor="b">
            <a:normAutofit/>
          </a:bodyPr>
          <a:lstStyle/>
          <a:p>
            <a:r>
              <a:rPr lang="en-US" dirty="0">
                <a:latin typeface="Bodoni MT Black" panose="02070A03080606020203" pitchFamily="18" charset="0"/>
              </a:rPr>
              <a:t>Total Revenue by Month</a:t>
            </a:r>
          </a:p>
        </p:txBody>
      </p:sp>
      <p:graphicFrame>
        <p:nvGraphicFramePr>
          <p:cNvPr id="8" name="Content Placeholder 7">
            <a:extLst>
              <a:ext uri="{FF2B5EF4-FFF2-40B4-BE49-F238E27FC236}">
                <a16:creationId xmlns:a16="http://schemas.microsoft.com/office/drawing/2014/main" id="{8609B109-1EF1-4B98-BCCD-E17E39D03D43}"/>
              </a:ext>
            </a:extLst>
          </p:cNvPr>
          <p:cNvGraphicFramePr>
            <a:graphicFrameLocks noGrp="1"/>
          </p:cNvGraphicFramePr>
          <p:nvPr>
            <p:ph idx="1"/>
            <p:extLst>
              <p:ext uri="{D42A27DB-BD31-4B8C-83A1-F6EECF244321}">
                <p14:modId xmlns:p14="http://schemas.microsoft.com/office/powerpoint/2010/main" val="2184917692"/>
              </p:ext>
            </p:extLst>
          </p:nvPr>
        </p:nvGraphicFramePr>
        <p:xfrm>
          <a:off x="4136065" y="1964732"/>
          <a:ext cx="5764393" cy="3330280"/>
        </p:xfrm>
        <a:graphic>
          <a:graphicData uri="http://schemas.openxmlformats.org/drawingml/2006/table">
            <a:tbl>
              <a:tblPr firstRow="1" bandRow="1">
                <a:noFill/>
                <a:tableStyleId>{5C22544A-7EE6-4342-B048-85BDC9FD1C3A}</a:tableStyleId>
              </a:tblPr>
              <a:tblGrid>
                <a:gridCol w="2838172">
                  <a:extLst>
                    <a:ext uri="{9D8B030D-6E8A-4147-A177-3AD203B41FA5}">
                      <a16:colId xmlns:a16="http://schemas.microsoft.com/office/drawing/2014/main" val="2718633795"/>
                    </a:ext>
                  </a:extLst>
                </a:gridCol>
                <a:gridCol w="2926221">
                  <a:extLst>
                    <a:ext uri="{9D8B030D-6E8A-4147-A177-3AD203B41FA5}">
                      <a16:colId xmlns:a16="http://schemas.microsoft.com/office/drawing/2014/main" val="1465215861"/>
                    </a:ext>
                  </a:extLst>
                </a:gridCol>
              </a:tblGrid>
              <a:tr h="595980">
                <a:tc>
                  <a:txBody>
                    <a:bodyPr/>
                    <a:lstStyle/>
                    <a:p>
                      <a:pPr>
                        <a:buNone/>
                      </a:pPr>
                      <a:r>
                        <a:rPr lang="en-US" sz="1400" b="1" cap="all" spc="150" dirty="0">
                          <a:solidFill>
                            <a:schemeClr val="tx1"/>
                          </a:solidFill>
                        </a:rPr>
                        <a:t>Month</a:t>
                      </a:r>
                    </a:p>
                  </a:txBody>
                  <a:tcPr marL="95561" marR="95561" marT="95561" marB="95561"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400" b="1" cap="all" spc="150" dirty="0">
                          <a:solidFill>
                            <a:schemeClr val="tx1"/>
                          </a:solidFill>
                        </a:rPr>
                        <a:t>Total Revenue</a:t>
                      </a:r>
                    </a:p>
                  </a:txBody>
                  <a:tcPr marL="95561" marR="95561" marT="95561" marB="95561"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1267749321"/>
                  </a:ext>
                </a:extLst>
              </a:tr>
              <a:tr h="546860">
                <a:tc>
                  <a:txBody>
                    <a:bodyPr/>
                    <a:lstStyle/>
                    <a:p>
                      <a:pPr>
                        <a:buNone/>
                      </a:pPr>
                      <a:r>
                        <a:rPr lang="en-US" sz="1400" b="1" cap="none" spc="0" dirty="0">
                          <a:solidFill>
                            <a:schemeClr val="tx1"/>
                          </a:solidFill>
                        </a:rPr>
                        <a:t>September</a:t>
                      </a:r>
                    </a:p>
                  </a:txBody>
                  <a:tcPr marL="95561" marR="95561" marT="95561" marB="955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dirty="0">
                          <a:solidFill>
                            <a:schemeClr val="tx1"/>
                          </a:solidFill>
                        </a:rPr>
                        <a:t>R40M</a:t>
                      </a:r>
                    </a:p>
                  </a:txBody>
                  <a:tcPr marL="95561" marR="95561" marT="95561" marB="955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072213888"/>
                  </a:ext>
                </a:extLst>
              </a:tr>
              <a:tr h="546860">
                <a:tc>
                  <a:txBody>
                    <a:bodyPr/>
                    <a:lstStyle/>
                    <a:p>
                      <a:pPr>
                        <a:buNone/>
                      </a:pPr>
                      <a:r>
                        <a:rPr lang="en-US" sz="1400" b="1" cap="none" spc="0" dirty="0">
                          <a:solidFill>
                            <a:schemeClr val="tx1"/>
                          </a:solidFill>
                        </a:rPr>
                        <a:t>February</a:t>
                      </a:r>
                    </a:p>
                  </a:txBody>
                  <a:tcPr marL="95561" marR="95561" marT="95561" marB="955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dirty="0">
                          <a:solidFill>
                            <a:schemeClr val="tx1"/>
                          </a:solidFill>
                        </a:rPr>
                        <a:t>R30M</a:t>
                      </a:r>
                    </a:p>
                  </a:txBody>
                  <a:tcPr marL="95561" marR="95561" marT="95561" marB="955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235720158"/>
                  </a:ext>
                </a:extLst>
              </a:tr>
              <a:tr h="546860">
                <a:tc>
                  <a:txBody>
                    <a:bodyPr/>
                    <a:lstStyle/>
                    <a:p>
                      <a:pPr>
                        <a:buNone/>
                      </a:pPr>
                      <a:r>
                        <a:rPr lang="en-US" sz="1400" b="1" cap="none" spc="0" dirty="0">
                          <a:solidFill>
                            <a:schemeClr val="tx1"/>
                          </a:solidFill>
                        </a:rPr>
                        <a:t>January</a:t>
                      </a:r>
                    </a:p>
                  </a:txBody>
                  <a:tcPr marL="95561" marR="95561" marT="95561" marB="955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dirty="0">
                          <a:solidFill>
                            <a:schemeClr val="tx1"/>
                          </a:solidFill>
                        </a:rPr>
                        <a:t>R20M</a:t>
                      </a:r>
                    </a:p>
                  </a:txBody>
                  <a:tcPr marL="95561" marR="95561" marT="95561" marB="955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592543035"/>
                  </a:ext>
                </a:extLst>
              </a:tr>
              <a:tr h="546860">
                <a:tc>
                  <a:txBody>
                    <a:bodyPr/>
                    <a:lstStyle/>
                    <a:p>
                      <a:pPr>
                        <a:buNone/>
                      </a:pPr>
                      <a:r>
                        <a:rPr lang="en-US" sz="1400" b="1" cap="none" spc="0" dirty="0">
                          <a:solidFill>
                            <a:schemeClr val="tx1"/>
                          </a:solidFill>
                        </a:rPr>
                        <a:t>June</a:t>
                      </a:r>
                    </a:p>
                  </a:txBody>
                  <a:tcPr marL="95561" marR="95561" marT="95561" marB="955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dirty="0">
                          <a:solidFill>
                            <a:schemeClr val="tx1"/>
                          </a:solidFill>
                        </a:rPr>
                        <a:t>R10M</a:t>
                      </a:r>
                    </a:p>
                  </a:txBody>
                  <a:tcPr marL="95561" marR="95561" marT="95561" marB="9556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95753935"/>
                  </a:ext>
                </a:extLst>
              </a:tr>
              <a:tr h="546860">
                <a:tc>
                  <a:txBody>
                    <a:bodyPr/>
                    <a:lstStyle/>
                    <a:p>
                      <a:pPr>
                        <a:buNone/>
                      </a:pPr>
                      <a:r>
                        <a:rPr lang="en-US" sz="1400" b="1" cap="none" spc="0" dirty="0">
                          <a:solidFill>
                            <a:schemeClr val="tx1"/>
                          </a:solidFill>
                        </a:rPr>
                        <a:t>May</a:t>
                      </a:r>
                    </a:p>
                  </a:txBody>
                  <a:tcPr marL="95561" marR="95561" marT="95561" marB="95561"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400" cap="none" spc="0" dirty="0">
                          <a:solidFill>
                            <a:schemeClr val="tx1"/>
                          </a:solidFill>
                        </a:rPr>
                        <a:t>R0M</a:t>
                      </a:r>
                    </a:p>
                  </a:txBody>
                  <a:tcPr marL="95561" marR="95561" marT="95561" marB="95561"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349558923"/>
                  </a:ext>
                </a:extLst>
              </a:tr>
            </a:tbl>
          </a:graphicData>
        </a:graphic>
      </p:graphicFrame>
      <p:sp>
        <p:nvSpPr>
          <p:cNvPr id="6" name="Slide Number Placeholder 5">
            <a:extLst>
              <a:ext uri="{FF2B5EF4-FFF2-40B4-BE49-F238E27FC236}">
                <a16:creationId xmlns:a16="http://schemas.microsoft.com/office/drawing/2014/main" id="{F5D23F68-9289-BEF0-1E59-69B5E6D7BA1F}"/>
              </a:ext>
            </a:extLst>
          </p:cNvPr>
          <p:cNvSpPr>
            <a:spLocks noGrp="1"/>
          </p:cNvSpPr>
          <p:nvPr>
            <p:ph type="sldNum" sz="quarter" idx="12"/>
          </p:nvPr>
        </p:nvSpPr>
        <p:spPr/>
        <p:txBody>
          <a:bodyPr anchor="ctr">
            <a:normAutofit/>
          </a:bodyPr>
          <a:lstStyle/>
          <a:p>
            <a:pPr>
              <a:spcAft>
                <a:spcPts val="600"/>
              </a:spcAft>
            </a:pPr>
            <a:fld id="{27F8DDA4-3B80-4E8A-A8F5-521F73BF9127}" type="slidenum">
              <a:rPr lang="en-US" smtClean="0"/>
              <a:pPr>
                <a:spcAft>
                  <a:spcPts val="600"/>
                </a:spcAft>
              </a:pPr>
              <a:t>5</a:t>
            </a:fld>
            <a:endParaRPr lang="en-US"/>
          </a:p>
        </p:txBody>
      </p:sp>
      <p:sp>
        <p:nvSpPr>
          <p:cNvPr id="7" name="TextBox 6">
            <a:extLst>
              <a:ext uri="{FF2B5EF4-FFF2-40B4-BE49-F238E27FC236}">
                <a16:creationId xmlns:a16="http://schemas.microsoft.com/office/drawing/2014/main" id="{D011CCCB-F506-76A5-950C-D372B15D9D31}"/>
              </a:ext>
            </a:extLst>
          </p:cNvPr>
          <p:cNvSpPr txBox="1"/>
          <p:nvPr/>
        </p:nvSpPr>
        <p:spPr>
          <a:xfrm>
            <a:off x="1597542" y="863601"/>
            <a:ext cx="6108404" cy="923330"/>
          </a:xfrm>
          <a:prstGeom prst="rect">
            <a:avLst/>
          </a:prstGeom>
          <a:noFill/>
        </p:spPr>
        <p:txBody>
          <a:bodyPr wrap="square">
            <a:spAutoFit/>
          </a:bodyPr>
          <a:lstStyle/>
          <a:p>
            <a:r>
              <a:rPr lang="en-US" sz="5400" dirty="0">
                <a:latin typeface="Bodoni MT Black" panose="02070A03080606020203" pitchFamily="18" charset="0"/>
              </a:rPr>
              <a:t>Revenue Trends</a:t>
            </a:r>
            <a:endParaRPr lang="en-ZA" sz="5400" dirty="0">
              <a:latin typeface="Bodoni MT Black" panose="02070A03080606020203" pitchFamily="18" charset="0"/>
            </a:endParaRPr>
          </a:p>
        </p:txBody>
      </p:sp>
    </p:spTree>
    <p:extLst>
      <p:ext uri="{BB962C8B-B14F-4D97-AF65-F5344CB8AC3E}">
        <p14:creationId xmlns:p14="http://schemas.microsoft.com/office/powerpoint/2010/main" val="255050540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Financial data analyzing">
            <a:extLst>
              <a:ext uri="{FF2B5EF4-FFF2-40B4-BE49-F238E27FC236}">
                <a16:creationId xmlns:a16="http://schemas.microsoft.com/office/drawing/2014/main" id="{A9E9C912-E9D5-46AA-ABDC-7B5E3785DC3C}"/>
              </a:ext>
            </a:extLst>
          </p:cNvPr>
          <p:cNvPicPr>
            <a:picLocks noGrp="1" noChangeAspect="1"/>
          </p:cNvPicPr>
          <p:nvPr>
            <p:ph type="pic" sz="quarter" idx="13"/>
          </p:nvPr>
        </p:nvPicPr>
        <p:blipFill>
          <a:blip r:embed="rId3"/>
          <a:srcRect l="7083" r="7083"/>
          <a:stretch>
            <a:fillRect/>
          </a:stretch>
        </p:blipFill>
        <p:spPr>
          <a:prstGeom prst="rect">
            <a:avLst/>
          </a:prstGeom>
          <a:noFill/>
        </p:spPr>
      </p:pic>
      <p:sp>
        <p:nvSpPr>
          <p:cNvPr id="2" name="Title 1">
            <a:extLst>
              <a:ext uri="{FF2B5EF4-FFF2-40B4-BE49-F238E27FC236}">
                <a16:creationId xmlns:a16="http://schemas.microsoft.com/office/drawing/2014/main" id="{309E8AB6-2FF4-2136-03F4-C8E378E9AABD}"/>
              </a:ext>
            </a:extLst>
          </p:cNvPr>
          <p:cNvSpPr>
            <a:spLocks noGrp="1"/>
          </p:cNvSpPr>
          <p:nvPr>
            <p:ph type="title"/>
          </p:nvPr>
        </p:nvSpPr>
        <p:spPr>
          <a:xfrm>
            <a:off x="8209165" y="122766"/>
            <a:ext cx="3384121" cy="1649966"/>
          </a:xfrm>
        </p:spPr>
        <p:txBody>
          <a:bodyPr anchor="b">
            <a:normAutofit fontScale="90000"/>
          </a:bodyPr>
          <a:lstStyle/>
          <a:p>
            <a:r>
              <a:rPr lang="en-US" dirty="0">
                <a:latin typeface="Bodoni MT Black" panose="02070A03080606020203" pitchFamily="18" charset="0"/>
              </a:rPr>
              <a:t>Revenue by Month and Model</a:t>
            </a:r>
          </a:p>
        </p:txBody>
      </p:sp>
      <p:sp>
        <p:nvSpPr>
          <p:cNvPr id="4" name="Content Placeholder 3">
            <a:extLst>
              <a:ext uri="{FF2B5EF4-FFF2-40B4-BE49-F238E27FC236}">
                <a16:creationId xmlns:a16="http://schemas.microsoft.com/office/drawing/2014/main" id="{8BE3DC75-3278-7B6D-5EED-0D5CD0BF53C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25680" y="2240564"/>
            <a:ext cx="3151090" cy="3678228"/>
          </a:xfrm>
        </p:spPr>
        <p:txBody>
          <a:bodyPr>
            <a:noAutofit/>
          </a:bodyPr>
          <a:lstStyle/>
          <a:p>
            <a:pPr marL="0" indent="0">
              <a:lnSpc>
                <a:spcPct val="110000"/>
              </a:lnSpc>
              <a:spcBef>
                <a:spcPts val="2500"/>
              </a:spcBef>
              <a:buFont typeface="Arial" panose="020B0604020202020204" pitchFamily="34" charset="0"/>
              <a:buNone/>
            </a:pPr>
            <a:r>
              <a:rPr lang="en-US" sz="1400" b="1" dirty="0"/>
              <a:t>Top-Performing Models</a:t>
            </a:r>
          </a:p>
          <a:p>
            <a:pPr marL="0" lvl="1" indent="0">
              <a:lnSpc>
                <a:spcPct val="110000"/>
              </a:lnSpc>
              <a:buFont typeface="Arial" panose="020B0604020202020204" pitchFamily="34" charset="0"/>
              <a:buNone/>
            </a:pPr>
            <a:r>
              <a:rPr lang="en-US" sz="1400" dirty="0"/>
              <a:t>Certain vehicle models consistently lead in revenue generation over several months, highlighting demand trends.</a:t>
            </a:r>
          </a:p>
          <a:p>
            <a:pPr marL="0" indent="0">
              <a:lnSpc>
                <a:spcPct val="110000"/>
              </a:lnSpc>
              <a:spcBef>
                <a:spcPts val="2500"/>
              </a:spcBef>
              <a:buFont typeface="Arial" panose="020B0604020202020204" pitchFamily="34" charset="0"/>
              <a:buNone/>
            </a:pPr>
            <a:r>
              <a:rPr lang="en-US" sz="1400" b="1" dirty="0"/>
              <a:t>Monthly Revenue Trends</a:t>
            </a:r>
          </a:p>
          <a:p>
            <a:pPr marL="0" lvl="1" indent="0">
              <a:lnSpc>
                <a:spcPct val="110000"/>
              </a:lnSpc>
              <a:buFont typeface="Arial" panose="020B0604020202020204" pitchFamily="34" charset="0"/>
              <a:buNone/>
            </a:pPr>
            <a:r>
              <a:rPr lang="en-US" sz="1400" dirty="0"/>
              <a:t>Analyzing revenue by month reveals peak periods and supports inventory planning for high-demand models.</a:t>
            </a:r>
          </a:p>
          <a:p>
            <a:pPr marL="0" indent="0">
              <a:lnSpc>
                <a:spcPct val="110000"/>
              </a:lnSpc>
              <a:spcBef>
                <a:spcPts val="2500"/>
              </a:spcBef>
              <a:buFont typeface="Arial" panose="020B0604020202020204" pitchFamily="34" charset="0"/>
              <a:buNone/>
            </a:pPr>
            <a:r>
              <a:rPr lang="en-US" sz="1400" b="1" dirty="0"/>
              <a:t>Inventory and Sales Strategy</a:t>
            </a:r>
          </a:p>
          <a:p>
            <a:pPr marL="0" lvl="1" indent="0">
              <a:lnSpc>
                <a:spcPct val="110000"/>
              </a:lnSpc>
              <a:buFont typeface="Arial" panose="020B0604020202020204" pitchFamily="34" charset="0"/>
              <a:buNone/>
            </a:pPr>
            <a:r>
              <a:rPr lang="en-US" sz="1400" dirty="0"/>
              <a:t>Understanding revenue patterns assists in ensuring availability of popular models during peak sales months.</a:t>
            </a:r>
          </a:p>
        </p:txBody>
      </p:sp>
      <p:sp>
        <p:nvSpPr>
          <p:cNvPr id="7" name="Slide Number Placeholder 6">
            <a:extLst>
              <a:ext uri="{FF2B5EF4-FFF2-40B4-BE49-F238E27FC236}">
                <a16:creationId xmlns:a16="http://schemas.microsoft.com/office/drawing/2014/main" id="{6CFF1DE1-3FBE-0223-8A84-83DD7AEEAE1C}"/>
              </a:ext>
            </a:extLst>
          </p:cNvPr>
          <p:cNvSpPr>
            <a:spLocks noGrp="1"/>
          </p:cNvSpPr>
          <p:nvPr>
            <p:ph type="sldNum" sz="quarter" idx="12"/>
          </p:nvPr>
        </p:nvSpPr>
        <p:spPr>
          <a:xfrm>
            <a:off x="11326963" y="5842026"/>
            <a:ext cx="532645" cy="552967"/>
          </a:xfrm>
        </p:spPr>
        <p:txBody>
          <a:bodyPr anchor="ctr">
            <a:normAutofit lnSpcReduction="10000"/>
          </a:bodyPr>
          <a:lstStyle/>
          <a:p>
            <a:pPr>
              <a:spcAft>
                <a:spcPts val="600"/>
              </a:spcAft>
            </a:pPr>
            <a:fld id="{27F8DDA4-3B80-4E8A-A8F5-521F73BF9127}" type="slidenum">
              <a:rPr lang="en-US" smtClean="0"/>
              <a:pPr>
                <a:spcAft>
                  <a:spcPts val="600"/>
                </a:spcAft>
              </a:pPr>
              <a:t>6</a:t>
            </a:fld>
            <a:endParaRPr lang="en-US"/>
          </a:p>
        </p:txBody>
      </p:sp>
    </p:spTree>
    <p:extLst>
      <p:ext uri="{BB962C8B-B14F-4D97-AF65-F5344CB8AC3E}">
        <p14:creationId xmlns:p14="http://schemas.microsoft.com/office/powerpoint/2010/main" val="17824335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7996D-32E1-E554-B9D5-F8D9535BF6E8}"/>
              </a:ext>
            </a:extLst>
          </p:cNvPr>
          <p:cNvSpPr>
            <a:spLocks noGrp="1"/>
          </p:cNvSpPr>
          <p:nvPr>
            <p:ph type="title"/>
          </p:nvPr>
        </p:nvSpPr>
        <p:spPr>
          <a:xfrm>
            <a:off x="684211" y="5779295"/>
            <a:ext cx="6450235" cy="758030"/>
          </a:xfrm>
        </p:spPr>
        <p:txBody>
          <a:bodyPr anchor="b">
            <a:normAutofit/>
          </a:bodyPr>
          <a:lstStyle/>
          <a:p>
            <a:r>
              <a:rPr lang="en-US" dirty="0">
                <a:latin typeface="Bodoni MT Black" panose="02070A03080606020203" pitchFamily="18" charset="0"/>
              </a:rPr>
              <a:t>Sales by Body Type</a:t>
            </a:r>
          </a:p>
        </p:txBody>
      </p:sp>
      <p:graphicFrame>
        <p:nvGraphicFramePr>
          <p:cNvPr id="7" name="Content Placeholder 6">
            <a:extLst>
              <a:ext uri="{FF2B5EF4-FFF2-40B4-BE49-F238E27FC236}">
                <a16:creationId xmlns:a16="http://schemas.microsoft.com/office/drawing/2014/main" id="{8C663BDE-970F-454B-97D6-C3156D7EC282}"/>
              </a:ext>
            </a:extLst>
          </p:cNvPr>
          <p:cNvGraphicFramePr>
            <a:graphicFrameLocks noGrp="1"/>
          </p:cNvGraphicFramePr>
          <p:nvPr>
            <p:ph idx="1"/>
            <p:extLst>
              <p:ext uri="{D42A27DB-BD31-4B8C-83A1-F6EECF244321}">
                <p14:modId xmlns:p14="http://schemas.microsoft.com/office/powerpoint/2010/main" val="122639783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84212" y="1621631"/>
          <a:ext cx="8534400" cy="3614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7CFA28D9-0F7B-B45C-D845-C559B480B032}"/>
              </a:ext>
            </a:extLst>
          </p:cNvPr>
          <p:cNvSpPr>
            <a:spLocks noGrp="1"/>
          </p:cNvSpPr>
          <p:nvPr>
            <p:ph type="sldNum" sz="quarter" idx="12"/>
          </p:nvPr>
        </p:nvSpPr>
        <p:spPr/>
        <p:txBody>
          <a:bodyPr anchor="ctr">
            <a:normAutofit/>
          </a:bodyPr>
          <a:lstStyle/>
          <a:p>
            <a:pPr>
              <a:spcAft>
                <a:spcPts val="600"/>
              </a:spcAft>
            </a:pPr>
            <a:fld id="{27F8DDA4-3B80-4E8A-A8F5-521F73BF9127}" type="slidenum">
              <a:rPr lang="en-US" smtClean="0"/>
              <a:pPr>
                <a:spcAft>
                  <a:spcPts val="600"/>
                </a:spcAft>
              </a:pPr>
              <a:t>7</a:t>
            </a:fld>
            <a:endParaRPr lang="en-US"/>
          </a:p>
        </p:txBody>
      </p:sp>
      <p:sp>
        <p:nvSpPr>
          <p:cNvPr id="8" name="TextBox 7">
            <a:extLst>
              <a:ext uri="{FF2B5EF4-FFF2-40B4-BE49-F238E27FC236}">
                <a16:creationId xmlns:a16="http://schemas.microsoft.com/office/drawing/2014/main" id="{BD1D0AA7-5A3C-789F-8A1A-7776C7EB8B55}"/>
              </a:ext>
            </a:extLst>
          </p:cNvPr>
          <p:cNvSpPr txBox="1"/>
          <p:nvPr/>
        </p:nvSpPr>
        <p:spPr>
          <a:xfrm>
            <a:off x="684211" y="370819"/>
            <a:ext cx="9895183" cy="707886"/>
          </a:xfrm>
          <a:prstGeom prst="rect">
            <a:avLst/>
          </a:prstGeom>
          <a:noFill/>
        </p:spPr>
        <p:txBody>
          <a:bodyPr wrap="square">
            <a:spAutoFit/>
          </a:bodyPr>
          <a:lstStyle/>
          <a:p>
            <a:r>
              <a:rPr lang="en-US" sz="4000" dirty="0">
                <a:latin typeface="Bodoni MT Black" panose="02070A03080606020203" pitchFamily="18" charset="0"/>
              </a:rPr>
              <a:t>Vehicle Characteristics and Sales</a:t>
            </a:r>
            <a:endParaRPr lang="en-ZA" sz="4000" dirty="0">
              <a:latin typeface="Bodoni MT Black" panose="02070A03080606020203" pitchFamily="18" charset="0"/>
            </a:endParaRPr>
          </a:p>
        </p:txBody>
      </p:sp>
    </p:spTree>
    <p:extLst>
      <p:ext uri="{BB962C8B-B14F-4D97-AF65-F5344CB8AC3E}">
        <p14:creationId xmlns:p14="http://schemas.microsoft.com/office/powerpoint/2010/main" val="307664218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BAC37-8DB3-9B34-CBF3-AB7BC8AF77A0}"/>
              </a:ext>
            </a:extLst>
          </p:cNvPr>
          <p:cNvSpPr>
            <a:spLocks noGrp="1"/>
          </p:cNvSpPr>
          <p:nvPr>
            <p:ph type="title"/>
          </p:nvPr>
        </p:nvSpPr>
        <p:spPr>
          <a:xfrm>
            <a:off x="605432" y="403167"/>
            <a:ext cx="4939005" cy="692550"/>
          </a:xfrm>
        </p:spPr>
        <p:txBody>
          <a:bodyPr anchor="b">
            <a:normAutofit/>
          </a:bodyPr>
          <a:lstStyle/>
          <a:p>
            <a:r>
              <a:rPr lang="en-US" dirty="0">
                <a:latin typeface="Bodoni MT Black" panose="02070A03080606020203" pitchFamily="18" charset="0"/>
              </a:rPr>
              <a:t>Sales by Color</a:t>
            </a:r>
          </a:p>
        </p:txBody>
      </p:sp>
      <p:sp>
        <p:nvSpPr>
          <p:cNvPr id="4" name="Content Placeholder 3">
            <a:extLst>
              <a:ext uri="{FF2B5EF4-FFF2-40B4-BE49-F238E27FC236}">
                <a16:creationId xmlns:a16="http://schemas.microsoft.com/office/drawing/2014/main" id="{6779B0E2-CE0A-C0E8-DA4D-7A380290B31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dirty="0"/>
              <a:t>Popular Neutral Colors</a:t>
            </a:r>
          </a:p>
          <a:p>
            <a:pPr marL="0" lvl="1" indent="0">
              <a:buFont typeface="Arial" panose="020B0604020202020204" pitchFamily="34" charset="0"/>
              <a:buNone/>
            </a:pPr>
            <a:r>
              <a:rPr dirty="0"/>
              <a:t>Black, silver, and gray lead vehicle color sales due to their neutral and versatile appeal.</a:t>
            </a:r>
            <a:endParaRPr lang="en-US" dirty="0"/>
          </a:p>
          <a:p>
            <a:pPr marL="0" indent="0">
              <a:spcBef>
                <a:spcPts val="2500"/>
              </a:spcBef>
              <a:buFont typeface="Arial" panose="020B0604020202020204" pitchFamily="34" charset="0"/>
              <a:buNone/>
            </a:pPr>
            <a:r>
              <a:rPr lang="en-US" b="1" dirty="0"/>
              <a:t>Resale Value Advantage</a:t>
            </a:r>
          </a:p>
          <a:p>
            <a:pPr marL="0" lvl="1" indent="0">
              <a:buFont typeface="Arial" panose="020B0604020202020204" pitchFamily="34" charset="0"/>
              <a:buNone/>
            </a:pPr>
            <a:r>
              <a:rPr dirty="0"/>
              <a:t>Neutral colors are linked to higher resale values and broader customer acceptance.</a:t>
            </a:r>
            <a:endParaRPr lang="en-US" dirty="0"/>
          </a:p>
          <a:p>
            <a:pPr marL="0" indent="0">
              <a:spcBef>
                <a:spcPts val="2500"/>
              </a:spcBef>
              <a:buFont typeface="Arial" panose="020B0604020202020204" pitchFamily="34" charset="0"/>
              <a:buNone/>
            </a:pPr>
            <a:r>
              <a:rPr lang="en-US" b="1" dirty="0"/>
              <a:t>Dealer Stock Strategy</a:t>
            </a:r>
          </a:p>
          <a:p>
            <a:pPr marL="0" lvl="1" indent="0">
              <a:buFont typeface="Arial" panose="020B0604020202020204" pitchFamily="34" charset="0"/>
              <a:buNone/>
            </a:pPr>
            <a:r>
              <a:rPr dirty="0"/>
              <a:t>Dealers can boost sales by stocking vehicles in these preferred colors to meet customer demand.</a:t>
            </a:r>
            <a:endParaRPr lang="en-US" dirty="0"/>
          </a:p>
        </p:txBody>
      </p:sp>
      <p:pic>
        <p:nvPicPr>
          <p:cNvPr id="8" name="Content Placeholder 7" descr="Used cars">
            <a:extLst>
              <a:ext uri="{FF2B5EF4-FFF2-40B4-BE49-F238E27FC236}">
                <a16:creationId xmlns:a16="http://schemas.microsoft.com/office/drawing/2014/main" id="{CFC64033-9E54-4582-96E3-E57D3F170178}"/>
              </a:ext>
            </a:extLst>
          </p:cNvPr>
          <p:cNvPicPr>
            <a:picLocks noGrp="1" noChangeAspect="1"/>
          </p:cNvPicPr>
          <p:nvPr>
            <p:ph type="pic" sz="quarter" idx="13"/>
          </p:nvPr>
        </p:nvPicPr>
        <p:blipFill>
          <a:blip r:embed="rId3"/>
          <a:srcRect l="22483" r="22483"/>
          <a:stretch>
            <a:fillRect/>
          </a:stretch>
        </p:blipFill>
        <p:spPr>
          <a:prstGeom prst="rect">
            <a:avLst/>
          </a:prstGeom>
          <a:noFill/>
        </p:spPr>
      </p:pic>
      <p:sp>
        <p:nvSpPr>
          <p:cNvPr id="7" name="Slide Number Placeholder 6">
            <a:extLst>
              <a:ext uri="{FF2B5EF4-FFF2-40B4-BE49-F238E27FC236}">
                <a16:creationId xmlns:a16="http://schemas.microsoft.com/office/drawing/2014/main" id="{527431BE-C7F6-D9EC-FC76-FB3E4D221FCA}"/>
              </a:ext>
            </a:extLst>
          </p:cNvPr>
          <p:cNvSpPr>
            <a:spLocks noGrp="1"/>
          </p:cNvSpPr>
          <p:nvPr>
            <p:ph type="sldNum" sz="quarter" idx="12"/>
          </p:nvPr>
        </p:nvSpPr>
        <p:spPr/>
        <p:txBody>
          <a:bodyPr anchor="ctr">
            <a:normAutofit fontScale="70000" lnSpcReduction="20000"/>
          </a:bodyPr>
          <a:lstStyle/>
          <a:p>
            <a:pPr>
              <a:spcAft>
                <a:spcPts val="600"/>
              </a:spcAft>
            </a:pPr>
            <a:fld id="{27F8DDA4-3B80-4E8A-A8F5-521F73BF9127}" type="slidenum">
              <a:rPr lang="en-US" smtClean="0"/>
              <a:pPr>
                <a:spcAft>
                  <a:spcPts val="600"/>
                </a:spcAft>
              </a:pPr>
              <a:t>8</a:t>
            </a:fld>
            <a:endParaRPr lang="en-US"/>
          </a:p>
        </p:txBody>
      </p:sp>
    </p:spTree>
    <p:extLst>
      <p:ext uri="{BB962C8B-B14F-4D97-AF65-F5344CB8AC3E}">
        <p14:creationId xmlns:p14="http://schemas.microsoft.com/office/powerpoint/2010/main" val="16708494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B17C7-1B27-BD25-6EB6-F250FA85A60E}"/>
              </a:ext>
            </a:extLst>
          </p:cNvPr>
          <p:cNvSpPr>
            <a:spLocks noGrp="1"/>
          </p:cNvSpPr>
          <p:nvPr>
            <p:ph type="title"/>
          </p:nvPr>
        </p:nvSpPr>
        <p:spPr>
          <a:xfrm>
            <a:off x="603504" y="430047"/>
            <a:ext cx="6201333" cy="1166270"/>
          </a:xfrm>
        </p:spPr>
        <p:txBody>
          <a:bodyPr anchor="b">
            <a:normAutofit fontScale="90000"/>
          </a:bodyPr>
          <a:lstStyle/>
          <a:p>
            <a:r>
              <a:rPr lang="en-US" dirty="0">
                <a:latin typeface="Bodoni MT Black" panose="02070A03080606020203" pitchFamily="18" charset="0"/>
              </a:rPr>
              <a:t>Sales by Transmission Type</a:t>
            </a:r>
          </a:p>
        </p:txBody>
      </p:sp>
      <p:sp>
        <p:nvSpPr>
          <p:cNvPr id="4" name="Content Placeholder 3">
            <a:extLst>
              <a:ext uri="{FF2B5EF4-FFF2-40B4-BE49-F238E27FC236}">
                <a16:creationId xmlns:a16="http://schemas.microsoft.com/office/drawing/2014/main" id="{044A0485-2F19-E594-FBD0-D0DF6B3964C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a:bodyPr>
          <a:lstStyle/>
          <a:p>
            <a:pPr marL="0" indent="0">
              <a:spcBef>
                <a:spcPts val="2500"/>
              </a:spcBef>
              <a:buFont typeface="Arial" panose="020B0604020202020204" pitchFamily="34" charset="0"/>
              <a:buNone/>
            </a:pPr>
            <a:r>
              <a:rPr lang="en-US" b="1"/>
              <a:t>Preference for Automatic Vehicles</a:t>
            </a:r>
          </a:p>
          <a:p>
            <a:pPr marL="0" lvl="1" indent="0">
              <a:buFont typeface="Arial" panose="020B0604020202020204" pitchFamily="34" charset="0"/>
              <a:buNone/>
            </a:pPr>
            <a:r>
              <a:t>Consumers show a strong preference for automatic transmission due to ease of use and comfort in driving.</a:t>
            </a:r>
            <a:endParaRPr lang="en-US"/>
          </a:p>
          <a:p>
            <a:pPr marL="0" indent="0">
              <a:spcBef>
                <a:spcPts val="2500"/>
              </a:spcBef>
              <a:buFont typeface="Arial" panose="020B0604020202020204" pitchFamily="34" charset="0"/>
              <a:buNone/>
            </a:pPr>
            <a:r>
              <a:rPr lang="en-US" b="1"/>
              <a:t>Consumer Expectations</a:t>
            </a:r>
          </a:p>
          <a:p>
            <a:pPr marL="0" lvl="1" indent="0">
              <a:buFont typeface="Arial" panose="020B0604020202020204" pitchFamily="34" charset="0"/>
              <a:buNone/>
            </a:pPr>
            <a:r>
              <a:t>Automatic cars meet consumer expectations for convenient and comfortable driving experience.</a:t>
            </a:r>
            <a:endParaRPr lang="en-US"/>
          </a:p>
          <a:p>
            <a:pPr marL="0" indent="0">
              <a:spcBef>
                <a:spcPts val="2500"/>
              </a:spcBef>
              <a:buFont typeface="Arial" panose="020B0604020202020204" pitchFamily="34" charset="0"/>
              <a:buNone/>
            </a:pPr>
            <a:r>
              <a:rPr lang="en-US" b="1"/>
              <a:t>Stocking Strategy</a:t>
            </a:r>
          </a:p>
          <a:p>
            <a:pPr marL="0" lvl="1" indent="0">
              <a:buFont typeface="Arial" panose="020B0604020202020204" pitchFamily="34" charset="0"/>
              <a:buNone/>
            </a:pPr>
            <a:r>
              <a:t>Increasing stock of automatic vehicles can improve sales turnover and meet majority demand.</a:t>
            </a:r>
            <a:endParaRPr lang="en-US"/>
          </a:p>
        </p:txBody>
      </p:sp>
      <p:pic>
        <p:nvPicPr>
          <p:cNvPr id="8" name="Content Placeholder 7" descr="Automatic transmission gear, car interior close up.">
            <a:extLst>
              <a:ext uri="{FF2B5EF4-FFF2-40B4-BE49-F238E27FC236}">
                <a16:creationId xmlns:a16="http://schemas.microsoft.com/office/drawing/2014/main" id="{A00B7075-721D-4ED1-A4CF-0FAF10015501}"/>
              </a:ext>
            </a:extLst>
          </p:cNvPr>
          <p:cNvPicPr>
            <a:picLocks noGrp="1" noChangeAspect="1"/>
          </p:cNvPicPr>
          <p:nvPr>
            <p:ph type="pic" sz="quarter" idx="13"/>
          </p:nvPr>
        </p:nvPicPr>
        <p:blipFill>
          <a:blip r:embed="rId3"/>
          <a:srcRect l="21240" r="21240"/>
          <a:stretch>
            <a:fillRect/>
          </a:stretch>
        </p:blipFill>
        <p:spPr>
          <a:prstGeom prst="rect">
            <a:avLst/>
          </a:prstGeom>
          <a:noFill/>
        </p:spPr>
      </p:pic>
      <p:sp>
        <p:nvSpPr>
          <p:cNvPr id="7" name="Slide Number Placeholder 6">
            <a:extLst>
              <a:ext uri="{FF2B5EF4-FFF2-40B4-BE49-F238E27FC236}">
                <a16:creationId xmlns:a16="http://schemas.microsoft.com/office/drawing/2014/main" id="{C9BA5905-99BD-6594-0EE9-0D4721D4A037}"/>
              </a:ext>
            </a:extLst>
          </p:cNvPr>
          <p:cNvSpPr>
            <a:spLocks noGrp="1"/>
          </p:cNvSpPr>
          <p:nvPr>
            <p:ph type="sldNum" sz="quarter" idx="12"/>
          </p:nvPr>
        </p:nvSpPr>
        <p:spPr/>
        <p:txBody>
          <a:bodyPr anchor="ctr">
            <a:normAutofit fontScale="47500" lnSpcReduction="20000"/>
          </a:bodyPr>
          <a:lstStyle/>
          <a:p>
            <a:pPr>
              <a:spcAft>
                <a:spcPts val="600"/>
              </a:spcAft>
            </a:pPr>
            <a:fld id="{27F8DDA4-3B80-4E8A-A8F5-521F73BF9127}" type="slidenum">
              <a:rPr lang="en-US" smtClean="0"/>
              <a:pPr>
                <a:spcAft>
                  <a:spcPts val="600"/>
                </a:spcAft>
              </a:pPr>
              <a:t>9</a:t>
            </a:fld>
            <a:endParaRPr lang="en-US" dirty="0"/>
          </a:p>
        </p:txBody>
      </p:sp>
    </p:spTree>
    <p:extLst>
      <p:ext uri="{BB962C8B-B14F-4D97-AF65-F5344CB8AC3E}">
        <p14:creationId xmlns:p14="http://schemas.microsoft.com/office/powerpoint/2010/main" val="36044262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3D illustration of new cars&#10;&#10;This image doesn`t contain any visible trademarked products, corporate identity, logos, or copyrighted elements.&#10;I am author of design of this car.&#10;I am author of 3d model of this car">
            <a:extLst>
              <a:ext uri="{FF2B5EF4-FFF2-40B4-BE49-F238E27FC236}">
                <a16:creationId xmlns:a16="http://schemas.microsoft.com/office/drawing/2014/main" id="{E4ACCB3A-E3BF-4ABD-8C2F-8F89A47E1F1E}"/>
              </a:ext>
            </a:extLst>
          </p:cNvPr>
          <p:cNvPicPr>
            <a:picLocks noGrp="1" noChangeAspect="1"/>
          </p:cNvPicPr>
          <p:nvPr>
            <p:ph type="pic" sz="quarter" idx="13"/>
          </p:nvPr>
        </p:nvPicPr>
        <p:blipFill>
          <a:blip r:embed="rId3"/>
          <a:srcRect l="22308" r="22308"/>
          <a:stretch>
            <a:fillRect/>
          </a:stretch>
        </p:blipFill>
        <p:spPr>
          <a:prstGeom prst="rect">
            <a:avLst/>
          </a:prstGeom>
          <a:noFill/>
        </p:spPr>
      </p:pic>
      <p:sp>
        <p:nvSpPr>
          <p:cNvPr id="2" name="Title 1">
            <a:extLst>
              <a:ext uri="{FF2B5EF4-FFF2-40B4-BE49-F238E27FC236}">
                <a16:creationId xmlns:a16="http://schemas.microsoft.com/office/drawing/2014/main" id="{A07842A6-FC9A-3551-41F3-D8E85ECDCB76}"/>
              </a:ext>
            </a:extLst>
          </p:cNvPr>
          <p:cNvSpPr>
            <a:spLocks noGrp="1"/>
          </p:cNvSpPr>
          <p:nvPr>
            <p:ph type="title"/>
          </p:nvPr>
        </p:nvSpPr>
        <p:spPr>
          <a:xfrm>
            <a:off x="6096000" y="372140"/>
            <a:ext cx="5701215" cy="1189104"/>
          </a:xfrm>
        </p:spPr>
        <p:txBody>
          <a:bodyPr anchor="b">
            <a:normAutofit/>
          </a:bodyPr>
          <a:lstStyle/>
          <a:p>
            <a:r>
              <a:rPr lang="en-US" dirty="0">
                <a:latin typeface="Bodoni MT Black" panose="02070A03080606020203" pitchFamily="18" charset="0"/>
              </a:rPr>
              <a:t>Drivers of High and Low Sales</a:t>
            </a:r>
          </a:p>
        </p:txBody>
      </p:sp>
      <p:sp>
        <p:nvSpPr>
          <p:cNvPr id="4" name="Content Placeholder 3">
            <a:extLst>
              <a:ext uri="{FF2B5EF4-FFF2-40B4-BE49-F238E27FC236}">
                <a16:creationId xmlns:a16="http://schemas.microsoft.com/office/drawing/2014/main" id="{56C8426B-BADE-9810-314D-1764D07AF3E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85000" lnSpcReduction="10000"/>
          </a:bodyPr>
          <a:lstStyle/>
          <a:p>
            <a:pPr marL="0" indent="0">
              <a:spcBef>
                <a:spcPts val="2500"/>
              </a:spcBef>
              <a:buFont typeface="Arial" panose="020B0604020202020204" pitchFamily="34" charset="0"/>
              <a:buNone/>
            </a:pPr>
            <a:r>
              <a:rPr lang="en-US" b="1" dirty="0"/>
              <a:t>Factors Driving High Sales</a:t>
            </a:r>
          </a:p>
          <a:p>
            <a:pPr marL="0" lvl="1" indent="0">
              <a:buFont typeface="Arial" panose="020B0604020202020204" pitchFamily="34" charset="0"/>
              <a:buNone/>
            </a:pPr>
            <a:r>
              <a:rPr dirty="0"/>
              <a:t>High sales result from mid-week activity, competitive pricing, and availability of popular models and colors.</a:t>
            </a:r>
            <a:endParaRPr lang="en-US" dirty="0"/>
          </a:p>
          <a:p>
            <a:pPr marL="0" indent="0">
              <a:spcBef>
                <a:spcPts val="2500"/>
              </a:spcBef>
              <a:buFont typeface="Arial" panose="020B0604020202020204" pitchFamily="34" charset="0"/>
              <a:buNone/>
            </a:pPr>
            <a:r>
              <a:rPr lang="en-US" b="1" dirty="0"/>
              <a:t>Causes of Low Sales</a:t>
            </a:r>
          </a:p>
          <a:p>
            <a:pPr marL="0" lvl="1" indent="0">
              <a:buFont typeface="Arial" panose="020B0604020202020204" pitchFamily="34" charset="0"/>
              <a:buNone/>
            </a:pPr>
            <a:r>
              <a:rPr dirty="0"/>
              <a:t>Low sales often occur during weekends or when inventory has niche trims or higher-priced vehicles.</a:t>
            </a:r>
            <a:endParaRPr lang="en-US" dirty="0"/>
          </a:p>
          <a:p>
            <a:pPr marL="0" indent="0">
              <a:spcBef>
                <a:spcPts val="2500"/>
              </a:spcBef>
              <a:buFont typeface="Arial" panose="020B0604020202020204" pitchFamily="34" charset="0"/>
              <a:buNone/>
            </a:pPr>
            <a:r>
              <a:rPr lang="en-US" b="1" dirty="0"/>
              <a:t>Strategies to Enhance Sales</a:t>
            </a:r>
          </a:p>
          <a:p>
            <a:pPr marL="0" lvl="1" indent="0">
              <a:buFont typeface="Arial" panose="020B0604020202020204" pitchFamily="34" charset="0"/>
              <a:buNone/>
            </a:pPr>
            <a:r>
              <a:rPr dirty="0"/>
              <a:t>Align promotions with peak days, maintain stock of high-demand models, and price vehicles competitively.</a:t>
            </a:r>
            <a:endParaRPr lang="en-US" dirty="0"/>
          </a:p>
        </p:txBody>
      </p:sp>
      <p:sp>
        <p:nvSpPr>
          <p:cNvPr id="7" name="Slide Number Placeholder 6">
            <a:extLst>
              <a:ext uri="{FF2B5EF4-FFF2-40B4-BE49-F238E27FC236}">
                <a16:creationId xmlns:a16="http://schemas.microsoft.com/office/drawing/2014/main" id="{435C0495-F78B-8CA0-224D-F90592987B63}"/>
              </a:ext>
            </a:extLst>
          </p:cNvPr>
          <p:cNvSpPr>
            <a:spLocks noGrp="1"/>
          </p:cNvSpPr>
          <p:nvPr>
            <p:ph type="sldNum" sz="quarter" idx="12"/>
          </p:nvPr>
        </p:nvSpPr>
        <p:spPr/>
        <p:txBody>
          <a:bodyPr anchor="ctr">
            <a:normAutofit/>
          </a:bodyPr>
          <a:lstStyle/>
          <a:p>
            <a:pPr>
              <a:spcAft>
                <a:spcPts val="600"/>
              </a:spcAft>
            </a:pPr>
            <a:fld id="{27F8DDA4-3B80-4E8A-A8F5-521F73BF9127}" type="slidenum">
              <a:rPr lang="en-US" smtClean="0"/>
              <a:pPr>
                <a:spcAft>
                  <a:spcPts val="600"/>
                </a:spcAft>
              </a:pPr>
              <a:t>10</a:t>
            </a:fld>
            <a:endParaRPr lang="en-US"/>
          </a:p>
        </p:txBody>
      </p:sp>
    </p:spTree>
    <p:extLst>
      <p:ext uri="{BB962C8B-B14F-4D97-AF65-F5344CB8AC3E}">
        <p14:creationId xmlns:p14="http://schemas.microsoft.com/office/powerpoint/2010/main" val="31078214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004B7-3597-ECDF-4733-834153D72BD3}"/>
              </a:ext>
            </a:extLst>
          </p:cNvPr>
          <p:cNvSpPr>
            <a:spLocks noGrp="1"/>
          </p:cNvSpPr>
          <p:nvPr>
            <p:ph type="title"/>
          </p:nvPr>
        </p:nvSpPr>
        <p:spPr>
          <a:xfrm>
            <a:off x="684212" y="5231219"/>
            <a:ext cx="8534400" cy="763180"/>
          </a:xfrm>
        </p:spPr>
        <p:txBody>
          <a:bodyPr anchor="b">
            <a:normAutofit/>
          </a:bodyPr>
          <a:lstStyle/>
          <a:p>
            <a:r>
              <a:rPr lang="en-US" dirty="0">
                <a:latin typeface="Bodoni MT Black" panose="02070A03080606020203" pitchFamily="18" charset="0"/>
              </a:rPr>
              <a:t>Summary and Next Steps</a:t>
            </a:r>
          </a:p>
        </p:txBody>
      </p:sp>
      <p:graphicFrame>
        <p:nvGraphicFramePr>
          <p:cNvPr id="7" name="Content Placeholder 6">
            <a:extLst>
              <a:ext uri="{FF2B5EF4-FFF2-40B4-BE49-F238E27FC236}">
                <a16:creationId xmlns:a16="http://schemas.microsoft.com/office/drawing/2014/main" id="{5E9E1417-7D47-4685-BCE5-5FC7C32B977C}"/>
              </a:ext>
            </a:extLst>
          </p:cNvPr>
          <p:cNvGraphicFramePr>
            <a:graphicFrameLocks noGrp="1"/>
          </p:cNvGraphicFramePr>
          <p:nvPr>
            <p:ph idx="1"/>
            <p:extLst>
              <p:ext uri="{D42A27DB-BD31-4B8C-83A1-F6EECF244321}">
                <p14:modId xmlns:p14="http://schemas.microsoft.com/office/powerpoint/2010/main" val="427147664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84212" y="1621631"/>
          <a:ext cx="8534400" cy="3614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9EAA0A5F-DCAB-0C47-E938-152BEE98657D}"/>
              </a:ext>
            </a:extLst>
          </p:cNvPr>
          <p:cNvSpPr>
            <a:spLocks noGrp="1"/>
          </p:cNvSpPr>
          <p:nvPr>
            <p:ph type="sldNum" sz="quarter" idx="12"/>
          </p:nvPr>
        </p:nvSpPr>
        <p:spPr/>
        <p:txBody>
          <a:bodyPr anchor="ctr">
            <a:normAutofit/>
          </a:bodyPr>
          <a:lstStyle/>
          <a:p>
            <a:pPr>
              <a:spcAft>
                <a:spcPts val="600"/>
              </a:spcAft>
            </a:pPr>
            <a:fld id="{27F8DDA4-3B80-4E8A-A8F5-521F73BF9127}" type="slidenum">
              <a:rPr lang="en-US" smtClean="0"/>
              <a:pPr>
                <a:spcAft>
                  <a:spcPts val="600"/>
                </a:spcAft>
              </a:pPr>
              <a:t>11</a:t>
            </a:fld>
            <a:endParaRPr lang="en-US"/>
          </a:p>
        </p:txBody>
      </p:sp>
      <p:sp>
        <p:nvSpPr>
          <p:cNvPr id="8" name="TextBox 7">
            <a:extLst>
              <a:ext uri="{FF2B5EF4-FFF2-40B4-BE49-F238E27FC236}">
                <a16:creationId xmlns:a16="http://schemas.microsoft.com/office/drawing/2014/main" id="{CB042AB4-6BC2-FC6A-9541-9D433D213EDB}"/>
              </a:ext>
            </a:extLst>
          </p:cNvPr>
          <p:cNvSpPr txBox="1"/>
          <p:nvPr/>
        </p:nvSpPr>
        <p:spPr>
          <a:xfrm>
            <a:off x="1036859" y="327266"/>
            <a:ext cx="6108404" cy="923330"/>
          </a:xfrm>
          <a:prstGeom prst="rect">
            <a:avLst/>
          </a:prstGeom>
          <a:noFill/>
        </p:spPr>
        <p:txBody>
          <a:bodyPr wrap="square">
            <a:spAutoFit/>
          </a:bodyPr>
          <a:lstStyle/>
          <a:p>
            <a:r>
              <a:rPr lang="en-US" sz="5400" dirty="0">
                <a:latin typeface="Bodoni MT Black" panose="02070A03080606020203" pitchFamily="18" charset="0"/>
              </a:rPr>
              <a:t>Conclusion</a:t>
            </a:r>
            <a:endParaRPr lang="en-ZA" sz="5400" dirty="0">
              <a:latin typeface="Bodoni MT Black" panose="02070A03080606020203" pitchFamily="18" charset="0"/>
            </a:endParaRPr>
          </a:p>
        </p:txBody>
      </p:sp>
    </p:spTree>
    <p:extLst>
      <p:ext uri="{BB962C8B-B14F-4D97-AF65-F5344CB8AC3E}">
        <p14:creationId xmlns:p14="http://schemas.microsoft.com/office/powerpoint/2010/main" val="4181679115"/>
      </p:ext>
    </p:extLst>
  </p:cSld>
  <p:clrMapOvr>
    <a:masterClrMapping/>
  </p:clrMapOvr>
  <p:transition>
    <p:fade/>
  </p:transition>
</p:sld>
</file>

<file path=ppt/theme/theme1.xml><?xml version="1.0" encoding="utf-8"?>
<a:theme xmlns:a="http://schemas.openxmlformats.org/drawingml/2006/main" name="Slice">
  <a:themeElements>
    <a:clrScheme name="Slice">
      <a:dk1>
        <a:sysClr val="windowText" lastClr="000000"/>
      </a:dk1>
      <a:lt1>
        <a:sysClr val="window" lastClr="FFFFFF"/>
      </a:lt1>
      <a:dk2>
        <a:srgbClr val="537D0B"/>
      </a:dk2>
      <a:lt2>
        <a:srgbClr val="A9E257"/>
      </a:lt2>
      <a:accent1>
        <a:srgbClr val="38540A"/>
      </a:accent1>
      <a:accent2>
        <a:srgbClr val="31A274"/>
      </a:accent2>
      <a:accent3>
        <a:srgbClr val="236073"/>
      </a:accent3>
      <a:accent4>
        <a:srgbClr val="6C4D90"/>
      </a:accent4>
      <a:accent5>
        <a:srgbClr val="983C27"/>
      </a:accent5>
      <a:accent6>
        <a:srgbClr val="CD811F"/>
      </a:accent6>
      <a:hlink>
        <a:srgbClr val="293F06"/>
      </a:hlink>
      <a:folHlink>
        <a:srgbClr val="68883A"/>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9759155-7935-4C61-A06C-C04380D1B1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7D331F-9E03-42FF-A5D8-8CA51554CEEC}">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FBC0E98-53B2-45AC-A2D3-5CB4F53EE9F6}">
  <ds:schemaRefs>
    <ds:schemaRef ds:uri="http://schemas.openxmlformats.org/package/2006/metadata/core-properties"/>
    <ds:schemaRef ds:uri="71af3243-3dd4-4a8d-8c0d-dd76da1f02a5"/>
    <ds:schemaRef ds:uri="16c05727-aa75-4e4a-9b5f-8a80a1165891"/>
    <ds:schemaRef ds:uri="http://purl.org/dc/terms/"/>
    <ds:schemaRef ds:uri="230e9df3-be65-4c73-a93b-d1236ebd677e"/>
    <ds:schemaRef ds:uri="http://purl.org/dc/dcmitype/"/>
    <ds:schemaRef ds:uri="http://schemas.microsoft.com/sharepoint/v3"/>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purl.org/dc/elements/1.1/"/>
  </ds:schemaRefs>
</ds:datastoreItem>
</file>

<file path=customXml/itemProps3.xml><?xml version="1.0" encoding="utf-8"?>
<ds:datastoreItem xmlns:ds="http://schemas.openxmlformats.org/officeDocument/2006/customXml" ds:itemID="{9566138A-5333-4F8F-852B-472D6D0F0B7A}">
  <ds:schemaRefs>
    <ds:schemaRef ds:uri="http://schemas.microsoft.com/sharepoint/v3/contenttype/forms"/>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Slice</Template>
  <TotalTime>109</TotalTime>
  <Words>1817</Words>
  <Application>Microsoft Office PowerPoint</Application>
  <PresentationFormat>Widescreen</PresentationFormat>
  <Paragraphs>136</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Bodoni MT Black</vt:lpstr>
      <vt:lpstr>Calibri</vt:lpstr>
      <vt:lpstr>Century Gothic</vt:lpstr>
      <vt:lpstr>Wingdings 3</vt:lpstr>
      <vt:lpstr>Slice</vt:lpstr>
      <vt:lpstr>Leo Mak Car Sales Analysis &amp; Insights</vt:lpstr>
      <vt:lpstr>Introduction and Scope</vt:lpstr>
      <vt:lpstr>Units Sold by Make</vt:lpstr>
      <vt:lpstr>Units Sold by Day of the Week</vt:lpstr>
      <vt:lpstr>Total Revenue by Month</vt:lpstr>
      <vt:lpstr>Revenue by Month and Model</vt:lpstr>
      <vt:lpstr>Sales by Body Type</vt:lpstr>
      <vt:lpstr>Sales by Color</vt:lpstr>
      <vt:lpstr>Sales by Transmission Type</vt:lpstr>
      <vt:lpstr>Drivers of High and Low Sales</vt:lpstr>
      <vt:lpstr>Summary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Leo Malkovic</dc:creator>
  <cp:lastModifiedBy>Noxolo Buka</cp:lastModifiedBy>
  <cp:revision>3</cp:revision>
  <dcterms:created xsi:type="dcterms:W3CDTF">2025-08-04T23:28:37Z</dcterms:created>
  <dcterms:modified xsi:type="dcterms:W3CDTF">2025-11-18T10:44:47Z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